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Helvetica World Bold" charset="1" panose="020B0800040000020004"/>
      <p:regular r:id="rId30"/>
    </p:embeddedFont>
    <p:embeddedFont>
      <p:font typeface="Helvetica World" charset="1" panose="020B0500040000020004"/>
      <p:regular r:id="rId31"/>
    </p:embeddedFon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5477" y="807921"/>
            <a:ext cx="16235809" cy="8671157"/>
            <a:chOff x="0" y="0"/>
            <a:chExt cx="2607037" cy="1392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037" cy="1392356"/>
            </a:xfrm>
            <a:custGeom>
              <a:avLst/>
              <a:gdLst/>
              <a:ahLst/>
              <a:cxnLst/>
              <a:rect r="r" b="b" t="t" l="l"/>
              <a:pathLst>
                <a:path h="1392356" w="2607037">
                  <a:moveTo>
                    <a:pt x="14782" y="0"/>
                  </a:moveTo>
                  <a:lnTo>
                    <a:pt x="2592255" y="0"/>
                  </a:lnTo>
                  <a:cubicBezTo>
                    <a:pt x="2600418" y="0"/>
                    <a:pt x="2607037" y="6618"/>
                    <a:pt x="2607037" y="14782"/>
                  </a:cubicBezTo>
                  <a:lnTo>
                    <a:pt x="2607037" y="1377574"/>
                  </a:lnTo>
                  <a:cubicBezTo>
                    <a:pt x="2607037" y="1385738"/>
                    <a:pt x="2600418" y="1392356"/>
                    <a:pt x="2592255" y="1392356"/>
                  </a:cubicBezTo>
                  <a:lnTo>
                    <a:pt x="14782" y="1392356"/>
                  </a:lnTo>
                  <a:cubicBezTo>
                    <a:pt x="6618" y="1392356"/>
                    <a:pt x="0" y="1385738"/>
                    <a:pt x="0" y="1377574"/>
                  </a:cubicBezTo>
                  <a:lnTo>
                    <a:pt x="0" y="14782"/>
                  </a:lnTo>
                  <a:cubicBezTo>
                    <a:pt x="0" y="6618"/>
                    <a:pt x="6618" y="0"/>
                    <a:pt x="1478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037" cy="1430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15522" y="3070643"/>
            <a:ext cx="14456956" cy="5642900"/>
            <a:chOff x="0" y="0"/>
            <a:chExt cx="3807638" cy="1486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07639" cy="1486210"/>
            </a:xfrm>
            <a:custGeom>
              <a:avLst/>
              <a:gdLst/>
              <a:ahLst/>
              <a:cxnLst/>
              <a:rect r="r" b="b" t="t" l="l"/>
              <a:pathLst>
                <a:path h="1486210" w="3807639">
                  <a:moveTo>
                    <a:pt x="3807639" y="16601"/>
                  </a:moveTo>
                  <a:lnTo>
                    <a:pt x="3807639" y="1469610"/>
                  </a:lnTo>
                  <a:cubicBezTo>
                    <a:pt x="3807639" y="1474012"/>
                    <a:pt x="3805889" y="1478235"/>
                    <a:pt x="3802776" y="1481348"/>
                  </a:cubicBezTo>
                  <a:cubicBezTo>
                    <a:pt x="3799663" y="1484461"/>
                    <a:pt x="3795440" y="1486210"/>
                    <a:pt x="3791038" y="1486210"/>
                  </a:cubicBezTo>
                  <a:lnTo>
                    <a:pt x="16601" y="1486210"/>
                  </a:lnTo>
                  <a:cubicBezTo>
                    <a:pt x="12198" y="1486210"/>
                    <a:pt x="7976" y="1484461"/>
                    <a:pt x="4862" y="1481348"/>
                  </a:cubicBezTo>
                  <a:cubicBezTo>
                    <a:pt x="1749" y="1478235"/>
                    <a:pt x="0" y="1474012"/>
                    <a:pt x="0" y="1469610"/>
                  </a:cubicBezTo>
                  <a:lnTo>
                    <a:pt x="0" y="16601"/>
                  </a:lnTo>
                  <a:cubicBezTo>
                    <a:pt x="0" y="12198"/>
                    <a:pt x="1749" y="7976"/>
                    <a:pt x="4862" y="4862"/>
                  </a:cubicBezTo>
                  <a:cubicBezTo>
                    <a:pt x="7976" y="1749"/>
                    <a:pt x="12198" y="0"/>
                    <a:pt x="16601" y="0"/>
                  </a:cubicBezTo>
                  <a:lnTo>
                    <a:pt x="3791038" y="0"/>
                  </a:lnTo>
                  <a:cubicBezTo>
                    <a:pt x="3795440" y="0"/>
                    <a:pt x="3799663" y="1749"/>
                    <a:pt x="3802776" y="4862"/>
                  </a:cubicBezTo>
                  <a:cubicBezTo>
                    <a:pt x="3805889" y="7976"/>
                    <a:pt x="3807639" y="12198"/>
                    <a:pt x="3807639" y="16601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07638" cy="1524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85597" y="1315420"/>
            <a:ext cx="12975567" cy="1272108"/>
            <a:chOff x="0" y="0"/>
            <a:chExt cx="17300757" cy="169614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7300757" cy="1696144"/>
              <a:chOff x="0" y="0"/>
              <a:chExt cx="3417474" cy="3350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417474" cy="335044"/>
              </a:xfrm>
              <a:custGeom>
                <a:avLst/>
                <a:gdLst/>
                <a:ahLst/>
                <a:cxnLst/>
                <a:rect r="r" b="b" t="t" l="l"/>
                <a:pathLst>
                  <a:path h="335044" w="3417474">
                    <a:moveTo>
                      <a:pt x="3417474" y="59665"/>
                    </a:moveTo>
                    <a:lnTo>
                      <a:pt x="3417474" y="275379"/>
                    </a:lnTo>
                    <a:cubicBezTo>
                      <a:pt x="3417474" y="291203"/>
                      <a:pt x="3411188" y="306379"/>
                      <a:pt x="3399998" y="317568"/>
                    </a:cubicBezTo>
                    <a:cubicBezTo>
                      <a:pt x="3388809" y="328758"/>
                      <a:pt x="3373632" y="335044"/>
                      <a:pt x="3357808" y="335044"/>
                    </a:cubicBezTo>
                    <a:lnTo>
                      <a:pt x="59665" y="335044"/>
                    </a:lnTo>
                    <a:cubicBezTo>
                      <a:pt x="43841" y="335044"/>
                      <a:pt x="28665" y="328758"/>
                      <a:pt x="17476" y="317568"/>
                    </a:cubicBezTo>
                    <a:cubicBezTo>
                      <a:pt x="6286" y="306379"/>
                      <a:pt x="0" y="291203"/>
                      <a:pt x="0" y="275379"/>
                    </a:cubicBezTo>
                    <a:lnTo>
                      <a:pt x="0" y="59665"/>
                    </a:lnTo>
                    <a:cubicBezTo>
                      <a:pt x="0" y="43841"/>
                      <a:pt x="6286" y="28665"/>
                      <a:pt x="17476" y="17476"/>
                    </a:cubicBezTo>
                    <a:cubicBezTo>
                      <a:pt x="28665" y="6286"/>
                      <a:pt x="43841" y="0"/>
                      <a:pt x="59665" y="0"/>
                    </a:cubicBezTo>
                    <a:lnTo>
                      <a:pt x="3357808" y="0"/>
                    </a:lnTo>
                    <a:cubicBezTo>
                      <a:pt x="3373632" y="0"/>
                      <a:pt x="3388809" y="6286"/>
                      <a:pt x="3399998" y="17476"/>
                    </a:cubicBezTo>
                    <a:cubicBezTo>
                      <a:pt x="3411188" y="28665"/>
                      <a:pt x="3417474" y="43841"/>
                      <a:pt x="3417474" y="59665"/>
                    </a:cubicBezTo>
                    <a:close/>
                  </a:path>
                </a:pathLst>
              </a:custGeom>
              <a:solidFill>
                <a:srgbClr val="2C2C2C">
                  <a:alpha val="89804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417474" cy="373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07546" y="-542925"/>
              <a:ext cx="16743866" cy="208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6999">
                  <a:solidFill>
                    <a:srgbClr val="49CA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Heart Stroke Prediction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393656" y="3273727"/>
            <a:ext cx="12702071" cy="56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2700" b="true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Departments</a:t>
            </a:r>
            <a:r>
              <a:rPr lang="en-US" b="true" sz="2700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  <a:r>
              <a:rPr lang="en-US" b="true" sz="2700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700">
                <a:solidFill>
                  <a:srgbClr val="F1EE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IT, ECE, CSE</a:t>
            </a:r>
          </a:p>
          <a:p>
            <a:pPr algn="l">
              <a:lnSpc>
                <a:spcPts val="5400"/>
              </a:lnSpc>
            </a:pPr>
            <a:r>
              <a:rPr lang="en-US" b="true" sz="2700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Course Name: </a:t>
            </a:r>
            <a:r>
              <a:rPr lang="en-US" sz="2700">
                <a:solidFill>
                  <a:srgbClr val="F1EE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Bachelors of Technology</a:t>
            </a:r>
          </a:p>
          <a:p>
            <a:pPr algn="l">
              <a:lnSpc>
                <a:spcPts val="5400"/>
              </a:lnSpc>
            </a:pPr>
            <a:r>
              <a:rPr lang="en-US" b="true" sz="2700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College:</a:t>
            </a:r>
            <a:r>
              <a:rPr lang="en-US" b="true" sz="2700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700">
                <a:solidFill>
                  <a:srgbClr val="F1EE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Asansol Engineering College</a:t>
            </a:r>
          </a:p>
          <a:p>
            <a:pPr algn="l">
              <a:lnSpc>
                <a:spcPts val="5400"/>
              </a:lnSpc>
            </a:pPr>
            <a:r>
              <a:rPr lang="en-US" b="true" sz="2700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University:</a:t>
            </a:r>
            <a:r>
              <a:rPr lang="en-US" b="true" sz="2700">
                <a:solidFill>
                  <a:srgbClr val="10290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700">
                <a:solidFill>
                  <a:srgbClr val="F1EE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Maulana Abul Kalam Azad University of Technology (MAKAUT)</a:t>
            </a:r>
          </a:p>
          <a:p>
            <a:pPr algn="l">
              <a:lnSpc>
                <a:spcPts val="5400"/>
              </a:lnSpc>
            </a:pPr>
            <a:r>
              <a:rPr lang="en-US" b="true" sz="2700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Instructor Name: </a:t>
            </a:r>
            <a:r>
              <a:rPr lang="en-US" sz="2700">
                <a:solidFill>
                  <a:srgbClr val="F1EE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Prof. Arnab Chakraborty</a:t>
            </a:r>
          </a:p>
          <a:p>
            <a:pPr algn="l">
              <a:lnSpc>
                <a:spcPts val="5400"/>
              </a:lnSpc>
            </a:pPr>
            <a:r>
              <a:rPr lang="en-US" b="true" sz="2700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Semester:</a:t>
            </a:r>
            <a:r>
              <a:rPr lang="en-US" sz="2700">
                <a:solidFill>
                  <a:srgbClr val="F1EE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5th</a:t>
            </a:r>
          </a:p>
          <a:p>
            <a:pPr algn="l">
              <a:lnSpc>
                <a:spcPts val="5400"/>
              </a:lnSpc>
            </a:pPr>
            <a:r>
              <a:rPr lang="en-US" b="true" sz="2700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Date: </a:t>
            </a:r>
            <a:r>
              <a:rPr lang="en-US" sz="2700">
                <a:solidFill>
                  <a:srgbClr val="F1EEE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26-12-2025</a:t>
            </a:r>
          </a:p>
          <a:p>
            <a:pPr algn="l">
              <a:lnSpc>
                <a:spcPts val="54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198016" y="1028700"/>
          <a:ext cx="13891969" cy="8772525"/>
        </p:xfrm>
        <a:graphic>
          <a:graphicData uri="http://schemas.openxmlformats.org/drawingml/2006/table">
            <a:tbl>
              <a:tblPr/>
              <a:tblGrid>
                <a:gridCol w="1581265"/>
                <a:gridCol w="10434403"/>
                <a:gridCol w="1876301"/>
              </a:tblGrid>
              <a:tr h="8158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49CA16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Sl.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49CA16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Topic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49CA16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Page 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Team Members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Introduction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Primary Objective &amp; 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Data Descipton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6-7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Methodology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Data Preprocessing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Models Used and Elaborations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10-15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ROC Graphs of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16-18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Accuracy Comparision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  <a:tr h="7956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913028" y="93906"/>
            <a:ext cx="4461944" cy="78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</p:spTree>
  </p:cSld>
  <p:clrMapOvr>
    <a:masterClrMapping/>
  </p:clrMapOvr>
  <p:transition spd="slow">
    <p:cover dir="lu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5477" y="807921"/>
            <a:ext cx="16235809" cy="8671157"/>
            <a:chOff x="0" y="0"/>
            <a:chExt cx="2607037" cy="1392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037" cy="1392356"/>
            </a:xfrm>
            <a:custGeom>
              <a:avLst/>
              <a:gdLst/>
              <a:ahLst/>
              <a:cxnLst/>
              <a:rect r="r" b="b" t="t" l="l"/>
              <a:pathLst>
                <a:path h="1392356" w="2607037">
                  <a:moveTo>
                    <a:pt x="14782" y="0"/>
                  </a:moveTo>
                  <a:lnTo>
                    <a:pt x="2592255" y="0"/>
                  </a:lnTo>
                  <a:cubicBezTo>
                    <a:pt x="2600418" y="0"/>
                    <a:pt x="2607037" y="6618"/>
                    <a:pt x="2607037" y="14782"/>
                  </a:cubicBezTo>
                  <a:lnTo>
                    <a:pt x="2607037" y="1377574"/>
                  </a:lnTo>
                  <a:cubicBezTo>
                    <a:pt x="2607037" y="1385738"/>
                    <a:pt x="2600418" y="1392356"/>
                    <a:pt x="2592255" y="1392356"/>
                  </a:cubicBezTo>
                  <a:lnTo>
                    <a:pt x="14782" y="1392356"/>
                  </a:lnTo>
                  <a:cubicBezTo>
                    <a:pt x="6618" y="1392356"/>
                    <a:pt x="0" y="1385738"/>
                    <a:pt x="0" y="1377574"/>
                  </a:cubicBezTo>
                  <a:lnTo>
                    <a:pt x="0" y="14782"/>
                  </a:lnTo>
                  <a:cubicBezTo>
                    <a:pt x="0" y="6618"/>
                    <a:pt x="6618" y="0"/>
                    <a:pt x="1478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037" cy="1430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15522" y="3070643"/>
            <a:ext cx="14456956" cy="5642900"/>
            <a:chOff x="0" y="0"/>
            <a:chExt cx="3807638" cy="1486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07639" cy="1486210"/>
            </a:xfrm>
            <a:custGeom>
              <a:avLst/>
              <a:gdLst/>
              <a:ahLst/>
              <a:cxnLst/>
              <a:rect r="r" b="b" t="t" l="l"/>
              <a:pathLst>
                <a:path h="1486210" w="3807639">
                  <a:moveTo>
                    <a:pt x="3807639" y="16601"/>
                  </a:moveTo>
                  <a:lnTo>
                    <a:pt x="3807639" y="1469610"/>
                  </a:lnTo>
                  <a:cubicBezTo>
                    <a:pt x="3807639" y="1474012"/>
                    <a:pt x="3805889" y="1478235"/>
                    <a:pt x="3802776" y="1481348"/>
                  </a:cubicBezTo>
                  <a:cubicBezTo>
                    <a:pt x="3799663" y="1484461"/>
                    <a:pt x="3795440" y="1486210"/>
                    <a:pt x="3791038" y="1486210"/>
                  </a:cubicBezTo>
                  <a:lnTo>
                    <a:pt x="16601" y="1486210"/>
                  </a:lnTo>
                  <a:cubicBezTo>
                    <a:pt x="12198" y="1486210"/>
                    <a:pt x="7976" y="1484461"/>
                    <a:pt x="4862" y="1481348"/>
                  </a:cubicBezTo>
                  <a:cubicBezTo>
                    <a:pt x="1749" y="1478235"/>
                    <a:pt x="0" y="1474012"/>
                    <a:pt x="0" y="1469610"/>
                  </a:cubicBezTo>
                  <a:lnTo>
                    <a:pt x="0" y="16601"/>
                  </a:lnTo>
                  <a:cubicBezTo>
                    <a:pt x="0" y="12198"/>
                    <a:pt x="1749" y="7976"/>
                    <a:pt x="4862" y="4862"/>
                  </a:cubicBezTo>
                  <a:cubicBezTo>
                    <a:pt x="7976" y="1749"/>
                    <a:pt x="12198" y="0"/>
                    <a:pt x="16601" y="0"/>
                  </a:cubicBezTo>
                  <a:lnTo>
                    <a:pt x="3791038" y="0"/>
                  </a:lnTo>
                  <a:cubicBezTo>
                    <a:pt x="3795440" y="0"/>
                    <a:pt x="3799663" y="1749"/>
                    <a:pt x="3802776" y="4862"/>
                  </a:cubicBezTo>
                  <a:cubicBezTo>
                    <a:pt x="3805889" y="7976"/>
                    <a:pt x="3807639" y="12198"/>
                    <a:pt x="3807639" y="16601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07638" cy="1524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85597" y="1315420"/>
            <a:ext cx="12975567" cy="1272108"/>
            <a:chOff x="0" y="0"/>
            <a:chExt cx="17300757" cy="169614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7300757" cy="1696144"/>
              <a:chOff x="0" y="0"/>
              <a:chExt cx="3417474" cy="3350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417474" cy="335044"/>
              </a:xfrm>
              <a:custGeom>
                <a:avLst/>
                <a:gdLst/>
                <a:ahLst/>
                <a:cxnLst/>
                <a:rect r="r" b="b" t="t" l="l"/>
                <a:pathLst>
                  <a:path h="335044" w="3417474">
                    <a:moveTo>
                      <a:pt x="3417474" y="59665"/>
                    </a:moveTo>
                    <a:lnTo>
                      <a:pt x="3417474" y="275379"/>
                    </a:lnTo>
                    <a:cubicBezTo>
                      <a:pt x="3417474" y="291203"/>
                      <a:pt x="3411188" y="306379"/>
                      <a:pt x="3399998" y="317568"/>
                    </a:cubicBezTo>
                    <a:cubicBezTo>
                      <a:pt x="3388809" y="328758"/>
                      <a:pt x="3373632" y="335044"/>
                      <a:pt x="3357808" y="335044"/>
                    </a:cubicBezTo>
                    <a:lnTo>
                      <a:pt x="59665" y="335044"/>
                    </a:lnTo>
                    <a:cubicBezTo>
                      <a:pt x="43841" y="335044"/>
                      <a:pt x="28665" y="328758"/>
                      <a:pt x="17476" y="317568"/>
                    </a:cubicBezTo>
                    <a:cubicBezTo>
                      <a:pt x="6286" y="306379"/>
                      <a:pt x="0" y="291203"/>
                      <a:pt x="0" y="275379"/>
                    </a:cubicBezTo>
                    <a:lnTo>
                      <a:pt x="0" y="59665"/>
                    </a:lnTo>
                    <a:cubicBezTo>
                      <a:pt x="0" y="43841"/>
                      <a:pt x="6286" y="28665"/>
                      <a:pt x="17476" y="17476"/>
                    </a:cubicBezTo>
                    <a:cubicBezTo>
                      <a:pt x="28665" y="6286"/>
                      <a:pt x="43841" y="0"/>
                      <a:pt x="59665" y="0"/>
                    </a:cubicBezTo>
                    <a:lnTo>
                      <a:pt x="3357808" y="0"/>
                    </a:lnTo>
                    <a:cubicBezTo>
                      <a:pt x="3373632" y="0"/>
                      <a:pt x="3388809" y="6286"/>
                      <a:pt x="3399998" y="17476"/>
                    </a:cubicBezTo>
                    <a:cubicBezTo>
                      <a:pt x="3411188" y="28665"/>
                      <a:pt x="3417474" y="43841"/>
                      <a:pt x="3417474" y="59665"/>
                    </a:cubicBezTo>
                    <a:close/>
                  </a:path>
                </a:pathLst>
              </a:custGeom>
              <a:solidFill>
                <a:srgbClr val="2C2C2C">
                  <a:alpha val="89804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417474" cy="373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07546" y="-542925"/>
              <a:ext cx="16743866" cy="208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6999">
                  <a:solidFill>
                    <a:srgbClr val="49CA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Team Members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210541" y="3763256"/>
          <a:ext cx="13866919" cy="4257675"/>
        </p:xfrm>
        <a:graphic>
          <a:graphicData uri="http://schemas.openxmlformats.org/drawingml/2006/table">
            <a:tbl>
              <a:tblPr/>
              <a:tblGrid>
                <a:gridCol w="2845204"/>
                <a:gridCol w="2883249"/>
                <a:gridCol w="2883249"/>
                <a:gridCol w="5255218"/>
              </a:tblGrid>
              <a:tr h="740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b="true" sz="1600">
                          <a:solidFill>
                            <a:srgbClr val="7EF25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Names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b="true" sz="1600">
                          <a:solidFill>
                            <a:srgbClr val="7EF25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Roll 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b="true" sz="1600">
                          <a:solidFill>
                            <a:srgbClr val="7EF25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b="true" sz="1600">
                          <a:solidFill>
                            <a:srgbClr val="7EF25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Department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Rhitinkar Bhowmick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10800323048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 Preprocessing + Presentation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7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Pritam Roy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10800223111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 Processing + ML Training + Presentation + Documentation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7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Supritam Mukhopadhyay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10800123232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Frontend (Streamlit) Integration + Documentation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Srikanta Maji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10800123219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 Visualization + Documentation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</p:spTree>
  </p:cSld>
  <p:clrMapOvr>
    <a:masterClrMapping/>
  </p:clrMapOvr>
  <p:transition spd="slow">
    <p:cover dir="lu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1124" y="2643131"/>
            <a:ext cx="7539026" cy="4062260"/>
            <a:chOff x="0" y="0"/>
            <a:chExt cx="1985587" cy="1069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5587" cy="1069896"/>
            </a:xfrm>
            <a:custGeom>
              <a:avLst/>
              <a:gdLst/>
              <a:ahLst/>
              <a:cxnLst/>
              <a:rect r="r" b="b" t="t" l="l"/>
              <a:pathLst>
                <a:path h="1069896" w="1985587">
                  <a:moveTo>
                    <a:pt x="31834" y="0"/>
                  </a:moveTo>
                  <a:lnTo>
                    <a:pt x="1953753" y="0"/>
                  </a:lnTo>
                  <a:cubicBezTo>
                    <a:pt x="1962196" y="0"/>
                    <a:pt x="1970293" y="3354"/>
                    <a:pt x="1976263" y="9324"/>
                  </a:cubicBezTo>
                  <a:cubicBezTo>
                    <a:pt x="1982233" y="15294"/>
                    <a:pt x="1985587" y="23391"/>
                    <a:pt x="1985587" y="31834"/>
                  </a:cubicBezTo>
                  <a:lnTo>
                    <a:pt x="1985587" y="1038061"/>
                  </a:lnTo>
                  <a:cubicBezTo>
                    <a:pt x="1985587" y="1046504"/>
                    <a:pt x="1982233" y="1054602"/>
                    <a:pt x="1976263" y="1060572"/>
                  </a:cubicBezTo>
                  <a:cubicBezTo>
                    <a:pt x="1970293" y="1066542"/>
                    <a:pt x="1962196" y="1069896"/>
                    <a:pt x="1953753" y="1069896"/>
                  </a:cubicBezTo>
                  <a:lnTo>
                    <a:pt x="31834" y="1069896"/>
                  </a:lnTo>
                  <a:cubicBezTo>
                    <a:pt x="23391" y="1069896"/>
                    <a:pt x="15294" y="1066542"/>
                    <a:pt x="9324" y="1060572"/>
                  </a:cubicBezTo>
                  <a:cubicBezTo>
                    <a:pt x="3354" y="1054602"/>
                    <a:pt x="0" y="1046504"/>
                    <a:pt x="0" y="1038061"/>
                  </a:cubicBezTo>
                  <a:lnTo>
                    <a:pt x="0" y="31834"/>
                  </a:lnTo>
                  <a:cubicBezTo>
                    <a:pt x="0" y="23391"/>
                    <a:pt x="3354" y="15294"/>
                    <a:pt x="9324" y="9324"/>
                  </a:cubicBezTo>
                  <a:cubicBezTo>
                    <a:pt x="15294" y="3354"/>
                    <a:pt x="23391" y="0"/>
                    <a:pt x="31834" y="0"/>
                  </a:cubicBezTo>
                  <a:close/>
                </a:path>
              </a:pathLst>
            </a:custGeom>
            <a:solidFill>
              <a:srgbClr val="49CA16">
                <a:alpha val="7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5587" cy="1107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124" y="7048291"/>
            <a:ext cx="11054480" cy="2183179"/>
            <a:chOff x="0" y="0"/>
            <a:chExt cx="2911468" cy="5749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11468" cy="574994"/>
            </a:xfrm>
            <a:custGeom>
              <a:avLst/>
              <a:gdLst/>
              <a:ahLst/>
              <a:cxnLst/>
              <a:rect r="r" b="b" t="t" l="l"/>
              <a:pathLst>
                <a:path h="574994" w="2911468">
                  <a:moveTo>
                    <a:pt x="21711" y="0"/>
                  </a:moveTo>
                  <a:lnTo>
                    <a:pt x="2889757" y="0"/>
                  </a:lnTo>
                  <a:cubicBezTo>
                    <a:pt x="2901748" y="0"/>
                    <a:pt x="2911468" y="9720"/>
                    <a:pt x="2911468" y="21711"/>
                  </a:cubicBezTo>
                  <a:lnTo>
                    <a:pt x="2911468" y="553283"/>
                  </a:lnTo>
                  <a:cubicBezTo>
                    <a:pt x="2911468" y="565274"/>
                    <a:pt x="2901748" y="574994"/>
                    <a:pt x="2889757" y="574994"/>
                  </a:cubicBezTo>
                  <a:lnTo>
                    <a:pt x="21711" y="574994"/>
                  </a:lnTo>
                  <a:cubicBezTo>
                    <a:pt x="15953" y="574994"/>
                    <a:pt x="10430" y="572706"/>
                    <a:pt x="6359" y="568635"/>
                  </a:cubicBezTo>
                  <a:cubicBezTo>
                    <a:pt x="2287" y="564563"/>
                    <a:pt x="0" y="559041"/>
                    <a:pt x="0" y="553283"/>
                  </a:cubicBezTo>
                  <a:lnTo>
                    <a:pt x="0" y="21711"/>
                  </a:lnTo>
                  <a:cubicBezTo>
                    <a:pt x="0" y="9720"/>
                    <a:pt x="9720" y="0"/>
                    <a:pt x="217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11468" cy="613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37467" y="7048291"/>
            <a:ext cx="6099409" cy="2183179"/>
            <a:chOff x="0" y="0"/>
            <a:chExt cx="1606429" cy="5749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429" cy="574994"/>
            </a:xfrm>
            <a:custGeom>
              <a:avLst/>
              <a:gdLst/>
              <a:ahLst/>
              <a:cxnLst/>
              <a:rect r="r" b="b" t="t" l="l"/>
              <a:pathLst>
                <a:path h="574994" w="1606429">
                  <a:moveTo>
                    <a:pt x="39348" y="0"/>
                  </a:moveTo>
                  <a:lnTo>
                    <a:pt x="1567081" y="0"/>
                  </a:lnTo>
                  <a:cubicBezTo>
                    <a:pt x="1588812" y="0"/>
                    <a:pt x="1606429" y="17617"/>
                    <a:pt x="1606429" y="39348"/>
                  </a:cubicBezTo>
                  <a:lnTo>
                    <a:pt x="1606429" y="535646"/>
                  </a:lnTo>
                  <a:cubicBezTo>
                    <a:pt x="1606429" y="557377"/>
                    <a:pt x="1588812" y="574994"/>
                    <a:pt x="1567081" y="574994"/>
                  </a:cubicBezTo>
                  <a:lnTo>
                    <a:pt x="39348" y="574994"/>
                  </a:lnTo>
                  <a:cubicBezTo>
                    <a:pt x="17617" y="574994"/>
                    <a:pt x="0" y="557377"/>
                    <a:pt x="0" y="535646"/>
                  </a:cubicBezTo>
                  <a:lnTo>
                    <a:pt x="0" y="39348"/>
                  </a:lnTo>
                  <a:cubicBezTo>
                    <a:pt x="0" y="17617"/>
                    <a:pt x="17617" y="0"/>
                    <a:pt x="39348" y="0"/>
                  </a:cubicBezTo>
                  <a:close/>
                </a:path>
              </a:pathLst>
            </a:custGeom>
            <a:solidFill>
              <a:srgbClr val="5050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06429" cy="613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76207" y="2643131"/>
            <a:ext cx="9560669" cy="4128935"/>
            <a:chOff x="0" y="0"/>
            <a:chExt cx="2518036" cy="10874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18036" cy="1087456"/>
            </a:xfrm>
            <a:custGeom>
              <a:avLst/>
              <a:gdLst/>
              <a:ahLst/>
              <a:cxnLst/>
              <a:rect r="r" b="b" t="t" l="l"/>
              <a:pathLst>
                <a:path h="1087456" w="2518036">
                  <a:moveTo>
                    <a:pt x="25103" y="0"/>
                  </a:moveTo>
                  <a:lnTo>
                    <a:pt x="2492934" y="0"/>
                  </a:lnTo>
                  <a:cubicBezTo>
                    <a:pt x="2499591" y="0"/>
                    <a:pt x="2505976" y="2645"/>
                    <a:pt x="2510684" y="7352"/>
                  </a:cubicBezTo>
                  <a:cubicBezTo>
                    <a:pt x="2515392" y="12060"/>
                    <a:pt x="2518036" y="18445"/>
                    <a:pt x="2518036" y="25103"/>
                  </a:cubicBezTo>
                  <a:lnTo>
                    <a:pt x="2518036" y="1062353"/>
                  </a:lnTo>
                  <a:cubicBezTo>
                    <a:pt x="2518036" y="1076217"/>
                    <a:pt x="2506798" y="1087456"/>
                    <a:pt x="2492934" y="1087456"/>
                  </a:cubicBezTo>
                  <a:lnTo>
                    <a:pt x="25103" y="1087456"/>
                  </a:lnTo>
                  <a:cubicBezTo>
                    <a:pt x="18445" y="1087456"/>
                    <a:pt x="12060" y="1084811"/>
                    <a:pt x="7352" y="1080104"/>
                  </a:cubicBezTo>
                  <a:cubicBezTo>
                    <a:pt x="2645" y="1075396"/>
                    <a:pt x="0" y="1069011"/>
                    <a:pt x="0" y="1062353"/>
                  </a:cubicBezTo>
                  <a:lnTo>
                    <a:pt x="0" y="25103"/>
                  </a:lnTo>
                  <a:cubicBezTo>
                    <a:pt x="0" y="18445"/>
                    <a:pt x="2645" y="12060"/>
                    <a:pt x="7352" y="7352"/>
                  </a:cubicBezTo>
                  <a:cubicBezTo>
                    <a:pt x="12060" y="2645"/>
                    <a:pt x="18445" y="0"/>
                    <a:pt x="25103" y="0"/>
                  </a:cubicBezTo>
                  <a:close/>
                </a:path>
              </a:pathLst>
            </a:custGeom>
            <a:solidFill>
              <a:srgbClr val="102906"/>
            </a:solidFill>
            <a:ln w="9525" cap="rnd">
              <a:solidFill>
                <a:srgbClr val="7EF25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18036" cy="1125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98664" y="2712193"/>
            <a:ext cx="4719044" cy="150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10290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Brief Background of the Problem: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42841" y="2712193"/>
            <a:ext cx="7707519" cy="150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Real-World Relevance (Healthcare Impact):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5525" y="4548327"/>
            <a:ext cx="7116434" cy="170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Stroke is a serious medical condition caused by interrupted blood flow to the brain, often resulting in long-term disability or death. </a:t>
            </a:r>
          </a:p>
          <a:p>
            <a:pPr algn="l">
              <a:lnSpc>
                <a:spcPts val="2750"/>
              </a:lnSpc>
            </a:pP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Early identification of individuals at risk is difficult due to the involvement of multiple health, lifestyle, and demographic factors.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9831" y="8055450"/>
            <a:ext cx="10740289" cy="117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Stroke is one of the leading causes of mortality and p</a:t>
            </a: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ermanent disability worldwide. Delayed diagnosis or lack of early warning signs significantly increases the severity of outcomes, making timely risk prediction extremely crucial.</a:t>
            </a: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69831" y="7071199"/>
            <a:ext cx="7802110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Why This Problem Is Important: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42841" y="4639418"/>
            <a:ext cx="8961738" cy="170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75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 </a:t>
            </a: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accurate stroke prediction system can assist healthcare professionals in identifying high-risk individuals early. </a:t>
            </a:r>
          </a:p>
          <a:p>
            <a:pPr algn="l">
              <a:lnSpc>
                <a:spcPts val="2750"/>
              </a:lnSpc>
            </a:pPr>
          </a:p>
          <a:p>
            <a:pPr algn="l" marL="367031" indent="-183515" lvl="1">
              <a:lnSpc>
                <a:spcPts val="275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enables preventive care, timely medical intervention, and better allocation of healthcare resources, ultimately reducing fatality rates and improving patient quality of life.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335268" y="1028700"/>
            <a:ext cx="12975567" cy="1272108"/>
            <a:chOff x="0" y="0"/>
            <a:chExt cx="17300757" cy="16961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7300757" cy="1696144"/>
              <a:chOff x="0" y="0"/>
              <a:chExt cx="3417474" cy="33504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417474" cy="335044"/>
              </a:xfrm>
              <a:custGeom>
                <a:avLst/>
                <a:gdLst/>
                <a:ahLst/>
                <a:cxnLst/>
                <a:rect r="r" b="b" t="t" l="l"/>
                <a:pathLst>
                  <a:path h="335044" w="3417474">
                    <a:moveTo>
                      <a:pt x="3417474" y="59665"/>
                    </a:moveTo>
                    <a:lnTo>
                      <a:pt x="3417474" y="275379"/>
                    </a:lnTo>
                    <a:cubicBezTo>
                      <a:pt x="3417474" y="291203"/>
                      <a:pt x="3411188" y="306379"/>
                      <a:pt x="3399998" y="317568"/>
                    </a:cubicBezTo>
                    <a:cubicBezTo>
                      <a:pt x="3388809" y="328758"/>
                      <a:pt x="3373632" y="335044"/>
                      <a:pt x="3357808" y="335044"/>
                    </a:cubicBezTo>
                    <a:lnTo>
                      <a:pt x="59665" y="335044"/>
                    </a:lnTo>
                    <a:cubicBezTo>
                      <a:pt x="43841" y="335044"/>
                      <a:pt x="28665" y="328758"/>
                      <a:pt x="17476" y="317568"/>
                    </a:cubicBezTo>
                    <a:cubicBezTo>
                      <a:pt x="6286" y="306379"/>
                      <a:pt x="0" y="291203"/>
                      <a:pt x="0" y="275379"/>
                    </a:cubicBezTo>
                    <a:lnTo>
                      <a:pt x="0" y="59665"/>
                    </a:lnTo>
                    <a:cubicBezTo>
                      <a:pt x="0" y="43841"/>
                      <a:pt x="6286" y="28665"/>
                      <a:pt x="17476" y="17476"/>
                    </a:cubicBezTo>
                    <a:cubicBezTo>
                      <a:pt x="28665" y="6286"/>
                      <a:pt x="43841" y="0"/>
                      <a:pt x="59665" y="0"/>
                    </a:cubicBezTo>
                    <a:lnTo>
                      <a:pt x="3357808" y="0"/>
                    </a:lnTo>
                    <a:cubicBezTo>
                      <a:pt x="3373632" y="0"/>
                      <a:pt x="3388809" y="6286"/>
                      <a:pt x="3399998" y="17476"/>
                    </a:cubicBezTo>
                    <a:cubicBezTo>
                      <a:pt x="3411188" y="28665"/>
                      <a:pt x="3417474" y="43841"/>
                      <a:pt x="3417474" y="59665"/>
                    </a:cubicBezTo>
                    <a:close/>
                  </a:path>
                </a:pathLst>
              </a:custGeom>
              <a:solidFill>
                <a:srgbClr val="2C2C2C">
                  <a:alpha val="89804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417474" cy="373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7546" y="-542925"/>
              <a:ext cx="16743866" cy="208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6999">
                  <a:solidFill>
                    <a:srgbClr val="49CA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Introduction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1124" y="2360886"/>
            <a:ext cx="7539026" cy="2500369"/>
            <a:chOff x="0" y="0"/>
            <a:chExt cx="1985587" cy="658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5587" cy="658533"/>
            </a:xfrm>
            <a:custGeom>
              <a:avLst/>
              <a:gdLst/>
              <a:ahLst/>
              <a:cxnLst/>
              <a:rect r="r" b="b" t="t" l="l"/>
              <a:pathLst>
                <a:path h="658533" w="1985587">
                  <a:moveTo>
                    <a:pt x="31834" y="0"/>
                  </a:moveTo>
                  <a:lnTo>
                    <a:pt x="1953753" y="0"/>
                  </a:lnTo>
                  <a:cubicBezTo>
                    <a:pt x="1962196" y="0"/>
                    <a:pt x="1970293" y="3354"/>
                    <a:pt x="1976263" y="9324"/>
                  </a:cubicBezTo>
                  <a:cubicBezTo>
                    <a:pt x="1982233" y="15294"/>
                    <a:pt x="1985587" y="23391"/>
                    <a:pt x="1985587" y="31834"/>
                  </a:cubicBezTo>
                  <a:lnTo>
                    <a:pt x="1985587" y="626699"/>
                  </a:lnTo>
                  <a:cubicBezTo>
                    <a:pt x="1985587" y="635142"/>
                    <a:pt x="1982233" y="643239"/>
                    <a:pt x="1976263" y="649209"/>
                  </a:cubicBezTo>
                  <a:cubicBezTo>
                    <a:pt x="1970293" y="655180"/>
                    <a:pt x="1962196" y="658533"/>
                    <a:pt x="1953753" y="658533"/>
                  </a:cubicBezTo>
                  <a:lnTo>
                    <a:pt x="31834" y="658533"/>
                  </a:lnTo>
                  <a:cubicBezTo>
                    <a:pt x="23391" y="658533"/>
                    <a:pt x="15294" y="655180"/>
                    <a:pt x="9324" y="649209"/>
                  </a:cubicBezTo>
                  <a:cubicBezTo>
                    <a:pt x="3354" y="643239"/>
                    <a:pt x="0" y="635142"/>
                    <a:pt x="0" y="626699"/>
                  </a:cubicBezTo>
                  <a:lnTo>
                    <a:pt x="0" y="31834"/>
                  </a:lnTo>
                  <a:cubicBezTo>
                    <a:pt x="0" y="23391"/>
                    <a:pt x="3354" y="15294"/>
                    <a:pt x="9324" y="9324"/>
                  </a:cubicBezTo>
                  <a:cubicBezTo>
                    <a:pt x="15294" y="3354"/>
                    <a:pt x="23391" y="0"/>
                    <a:pt x="31834" y="0"/>
                  </a:cubicBezTo>
                  <a:close/>
                </a:path>
              </a:pathLst>
            </a:custGeom>
            <a:solidFill>
              <a:srgbClr val="102906">
                <a:alpha val="74902"/>
              </a:srgbClr>
            </a:solidFill>
            <a:ln w="9525" cap="rnd">
              <a:solidFill>
                <a:srgbClr val="7EF250">
                  <a:alpha val="74902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5587" cy="696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124" y="5147006"/>
            <a:ext cx="7539026" cy="4309684"/>
            <a:chOff x="0" y="0"/>
            <a:chExt cx="1985587" cy="1135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5587" cy="1135061"/>
            </a:xfrm>
            <a:custGeom>
              <a:avLst/>
              <a:gdLst/>
              <a:ahLst/>
              <a:cxnLst/>
              <a:rect r="r" b="b" t="t" l="l"/>
              <a:pathLst>
                <a:path h="1135061" w="1985587">
                  <a:moveTo>
                    <a:pt x="31834" y="0"/>
                  </a:moveTo>
                  <a:lnTo>
                    <a:pt x="1953753" y="0"/>
                  </a:lnTo>
                  <a:cubicBezTo>
                    <a:pt x="1962196" y="0"/>
                    <a:pt x="1970293" y="3354"/>
                    <a:pt x="1976263" y="9324"/>
                  </a:cubicBezTo>
                  <a:cubicBezTo>
                    <a:pt x="1982233" y="15294"/>
                    <a:pt x="1985587" y="23391"/>
                    <a:pt x="1985587" y="31834"/>
                  </a:cubicBezTo>
                  <a:lnTo>
                    <a:pt x="1985587" y="1103227"/>
                  </a:lnTo>
                  <a:cubicBezTo>
                    <a:pt x="1985587" y="1111670"/>
                    <a:pt x="1982233" y="1119767"/>
                    <a:pt x="1976263" y="1125737"/>
                  </a:cubicBezTo>
                  <a:cubicBezTo>
                    <a:pt x="1970293" y="1131707"/>
                    <a:pt x="1962196" y="1135061"/>
                    <a:pt x="1953753" y="1135061"/>
                  </a:cubicBezTo>
                  <a:lnTo>
                    <a:pt x="31834" y="1135061"/>
                  </a:lnTo>
                  <a:cubicBezTo>
                    <a:pt x="23391" y="1135061"/>
                    <a:pt x="15294" y="1131707"/>
                    <a:pt x="9324" y="1125737"/>
                  </a:cubicBezTo>
                  <a:cubicBezTo>
                    <a:pt x="3354" y="1119767"/>
                    <a:pt x="0" y="1111670"/>
                    <a:pt x="0" y="1103227"/>
                  </a:cubicBezTo>
                  <a:lnTo>
                    <a:pt x="0" y="31834"/>
                  </a:lnTo>
                  <a:cubicBezTo>
                    <a:pt x="0" y="23391"/>
                    <a:pt x="3354" y="15294"/>
                    <a:pt x="9324" y="9324"/>
                  </a:cubicBezTo>
                  <a:cubicBezTo>
                    <a:pt x="15294" y="3354"/>
                    <a:pt x="23391" y="0"/>
                    <a:pt x="31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85587" cy="117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76207" y="7846905"/>
            <a:ext cx="9560669" cy="1609785"/>
            <a:chOff x="0" y="0"/>
            <a:chExt cx="2518036" cy="4239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8036" cy="423976"/>
            </a:xfrm>
            <a:custGeom>
              <a:avLst/>
              <a:gdLst/>
              <a:ahLst/>
              <a:cxnLst/>
              <a:rect r="r" b="b" t="t" l="l"/>
              <a:pathLst>
                <a:path h="423976" w="2518036">
                  <a:moveTo>
                    <a:pt x="25103" y="0"/>
                  </a:moveTo>
                  <a:lnTo>
                    <a:pt x="2492934" y="0"/>
                  </a:lnTo>
                  <a:cubicBezTo>
                    <a:pt x="2499591" y="0"/>
                    <a:pt x="2505976" y="2645"/>
                    <a:pt x="2510684" y="7352"/>
                  </a:cubicBezTo>
                  <a:cubicBezTo>
                    <a:pt x="2515392" y="12060"/>
                    <a:pt x="2518036" y="18445"/>
                    <a:pt x="2518036" y="25103"/>
                  </a:cubicBezTo>
                  <a:lnTo>
                    <a:pt x="2518036" y="398873"/>
                  </a:lnTo>
                  <a:cubicBezTo>
                    <a:pt x="2518036" y="412737"/>
                    <a:pt x="2506798" y="423976"/>
                    <a:pt x="2492934" y="423976"/>
                  </a:cubicBezTo>
                  <a:lnTo>
                    <a:pt x="25103" y="423976"/>
                  </a:lnTo>
                  <a:cubicBezTo>
                    <a:pt x="11239" y="423976"/>
                    <a:pt x="0" y="412737"/>
                    <a:pt x="0" y="398873"/>
                  </a:cubicBezTo>
                  <a:lnTo>
                    <a:pt x="0" y="25103"/>
                  </a:lnTo>
                  <a:cubicBezTo>
                    <a:pt x="0" y="18445"/>
                    <a:pt x="2645" y="12060"/>
                    <a:pt x="7352" y="7352"/>
                  </a:cubicBezTo>
                  <a:cubicBezTo>
                    <a:pt x="12060" y="2645"/>
                    <a:pt x="18445" y="0"/>
                    <a:pt x="25103" y="0"/>
                  </a:cubicBezTo>
                  <a:close/>
                </a:path>
              </a:pathLst>
            </a:custGeom>
            <a:solidFill>
              <a:srgbClr val="5050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18036" cy="462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76207" y="2360886"/>
            <a:ext cx="9560669" cy="5200269"/>
            <a:chOff x="0" y="0"/>
            <a:chExt cx="2518036" cy="1369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18036" cy="1369618"/>
            </a:xfrm>
            <a:custGeom>
              <a:avLst/>
              <a:gdLst/>
              <a:ahLst/>
              <a:cxnLst/>
              <a:rect r="r" b="b" t="t" l="l"/>
              <a:pathLst>
                <a:path h="1369618" w="2518036">
                  <a:moveTo>
                    <a:pt x="25103" y="0"/>
                  </a:moveTo>
                  <a:lnTo>
                    <a:pt x="2492934" y="0"/>
                  </a:lnTo>
                  <a:cubicBezTo>
                    <a:pt x="2499591" y="0"/>
                    <a:pt x="2505976" y="2645"/>
                    <a:pt x="2510684" y="7352"/>
                  </a:cubicBezTo>
                  <a:cubicBezTo>
                    <a:pt x="2515392" y="12060"/>
                    <a:pt x="2518036" y="18445"/>
                    <a:pt x="2518036" y="25103"/>
                  </a:cubicBezTo>
                  <a:lnTo>
                    <a:pt x="2518036" y="1344515"/>
                  </a:lnTo>
                  <a:cubicBezTo>
                    <a:pt x="2518036" y="1358379"/>
                    <a:pt x="2506798" y="1369618"/>
                    <a:pt x="2492934" y="1369618"/>
                  </a:cubicBezTo>
                  <a:lnTo>
                    <a:pt x="25103" y="1369618"/>
                  </a:lnTo>
                  <a:cubicBezTo>
                    <a:pt x="18445" y="1369618"/>
                    <a:pt x="12060" y="1366973"/>
                    <a:pt x="7352" y="1362266"/>
                  </a:cubicBezTo>
                  <a:cubicBezTo>
                    <a:pt x="2645" y="1357558"/>
                    <a:pt x="0" y="1351173"/>
                    <a:pt x="0" y="1344515"/>
                  </a:cubicBezTo>
                  <a:lnTo>
                    <a:pt x="0" y="25103"/>
                  </a:lnTo>
                  <a:cubicBezTo>
                    <a:pt x="0" y="18445"/>
                    <a:pt x="2645" y="12060"/>
                    <a:pt x="7352" y="7352"/>
                  </a:cubicBezTo>
                  <a:cubicBezTo>
                    <a:pt x="12060" y="2645"/>
                    <a:pt x="18445" y="0"/>
                    <a:pt x="25103" y="0"/>
                  </a:cubicBezTo>
                  <a:close/>
                </a:path>
              </a:pathLst>
            </a:custGeom>
            <a:solidFill>
              <a:srgbClr val="49CA16">
                <a:alpha val="74902"/>
              </a:srgbClr>
            </a:solidFill>
            <a:ln w="9525" cap="rnd">
              <a:solidFill>
                <a:srgbClr val="7EF250">
                  <a:alpha val="74902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18036" cy="1407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98664" y="2429949"/>
            <a:ext cx="4719044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Primary Objective: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42841" y="2429949"/>
            <a:ext cx="7707519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0290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Scope of the Project: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2420" y="3389343"/>
            <a:ext cx="7116434" cy="101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develop a machine learning–based system that predicts the likelihood of stroke in individuals using demographic, lifestyle, and medical health data.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9831" y="6125590"/>
            <a:ext cx="7109023" cy="3414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perform data preprocessing and handle missing and categorical values effectively.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train and evaluate multipl</a:t>
            </a: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machine learning models for stroke prediction.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compare model performance using accuracy, precision, recall, and F1-score.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identify the best-performing model suitable for healthcare prediction.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50505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deploy the trained model using a user-friendly web interface (Streamlit).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69831" y="5169914"/>
            <a:ext cx="577099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Secondary Objectives: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42841" y="3310038"/>
            <a:ext cx="8961738" cy="381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750"/>
              </a:lnSpc>
              <a:buFont typeface="Arial"/>
              <a:buChar char="•"/>
            </a:pPr>
            <a:r>
              <a:rPr lang="en-US" b="true" sz="17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</a:t>
            </a:r>
            <a:r>
              <a:rPr lang="en-US" b="true" sz="17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cluded: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Analysis of structured healthcare data.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Application of supervised machine learning models.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evaluation using standard performance metrics.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Basic frontend integration for user input and prediction.</a:t>
            </a:r>
          </a:p>
          <a:p>
            <a:pPr algn="l">
              <a:lnSpc>
                <a:spcPts val="2750"/>
              </a:lnSpc>
            </a:pPr>
          </a:p>
          <a:p>
            <a:pPr algn="l" marL="367031" indent="-183515" lvl="1">
              <a:lnSpc>
                <a:spcPts val="2750"/>
              </a:lnSpc>
              <a:buFont typeface="Arial"/>
              <a:buChar char="•"/>
            </a:pPr>
            <a:r>
              <a:rPr lang="en-US" b="true" sz="17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Excluded: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clinical data integration.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Medical diagnosis or treatment recommendation.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Deployment in hospital-grade healthcare systems.</a:t>
            </a:r>
          </a:p>
          <a:p>
            <a:pPr algn="l" marL="734061" indent="-244687" lvl="2">
              <a:lnSpc>
                <a:spcPts val="2750"/>
              </a:lnSpc>
              <a:buFont typeface="Arial"/>
              <a:buChar char="⚬"/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of deep learning or real-time sensor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335268" y="746456"/>
            <a:ext cx="12975567" cy="1272108"/>
            <a:chOff x="0" y="0"/>
            <a:chExt cx="17300757" cy="16961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7300757" cy="1696144"/>
              <a:chOff x="0" y="0"/>
              <a:chExt cx="3417474" cy="33504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417474" cy="335044"/>
              </a:xfrm>
              <a:custGeom>
                <a:avLst/>
                <a:gdLst/>
                <a:ahLst/>
                <a:cxnLst/>
                <a:rect r="r" b="b" t="t" l="l"/>
                <a:pathLst>
                  <a:path h="335044" w="3417474">
                    <a:moveTo>
                      <a:pt x="3417474" y="59665"/>
                    </a:moveTo>
                    <a:lnTo>
                      <a:pt x="3417474" y="275379"/>
                    </a:lnTo>
                    <a:cubicBezTo>
                      <a:pt x="3417474" y="291203"/>
                      <a:pt x="3411188" y="306379"/>
                      <a:pt x="3399998" y="317568"/>
                    </a:cubicBezTo>
                    <a:cubicBezTo>
                      <a:pt x="3388809" y="328758"/>
                      <a:pt x="3373632" y="335044"/>
                      <a:pt x="3357808" y="335044"/>
                    </a:cubicBezTo>
                    <a:lnTo>
                      <a:pt x="59665" y="335044"/>
                    </a:lnTo>
                    <a:cubicBezTo>
                      <a:pt x="43841" y="335044"/>
                      <a:pt x="28665" y="328758"/>
                      <a:pt x="17476" y="317568"/>
                    </a:cubicBezTo>
                    <a:cubicBezTo>
                      <a:pt x="6286" y="306379"/>
                      <a:pt x="0" y="291203"/>
                      <a:pt x="0" y="275379"/>
                    </a:cubicBezTo>
                    <a:lnTo>
                      <a:pt x="0" y="59665"/>
                    </a:lnTo>
                    <a:cubicBezTo>
                      <a:pt x="0" y="43841"/>
                      <a:pt x="6286" y="28665"/>
                      <a:pt x="17476" y="17476"/>
                    </a:cubicBezTo>
                    <a:cubicBezTo>
                      <a:pt x="28665" y="6286"/>
                      <a:pt x="43841" y="0"/>
                      <a:pt x="59665" y="0"/>
                    </a:cubicBezTo>
                    <a:lnTo>
                      <a:pt x="3357808" y="0"/>
                    </a:lnTo>
                    <a:cubicBezTo>
                      <a:pt x="3373632" y="0"/>
                      <a:pt x="3388809" y="6286"/>
                      <a:pt x="3399998" y="17476"/>
                    </a:cubicBezTo>
                    <a:cubicBezTo>
                      <a:pt x="3411188" y="28665"/>
                      <a:pt x="3417474" y="43841"/>
                      <a:pt x="3417474" y="59665"/>
                    </a:cubicBezTo>
                    <a:close/>
                  </a:path>
                </a:pathLst>
              </a:custGeom>
              <a:solidFill>
                <a:srgbClr val="2C2C2C">
                  <a:alpha val="89804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417474" cy="373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7546" y="-542925"/>
              <a:ext cx="16743866" cy="208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6999">
                  <a:solidFill>
                    <a:srgbClr val="49CA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Objectives &amp; Scope</a:t>
              </a:r>
            </a:p>
          </p:txBody>
        </p:sp>
      </p:grpSp>
    </p:spTree>
  </p:cSld>
  <p:clrMapOvr>
    <a:masterClrMapping/>
  </p:clrMapOvr>
  <p:transition spd="slow">
    <p:cover dir="lu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56216" y="1028700"/>
            <a:ext cx="12975567" cy="1272108"/>
            <a:chOff x="0" y="0"/>
            <a:chExt cx="17300757" cy="16961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300757" cy="1696144"/>
              <a:chOff x="0" y="0"/>
              <a:chExt cx="3417474" cy="3350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417474" cy="335044"/>
              </a:xfrm>
              <a:custGeom>
                <a:avLst/>
                <a:gdLst/>
                <a:ahLst/>
                <a:cxnLst/>
                <a:rect r="r" b="b" t="t" l="l"/>
                <a:pathLst>
                  <a:path h="335044" w="3417474">
                    <a:moveTo>
                      <a:pt x="3417474" y="59665"/>
                    </a:moveTo>
                    <a:lnTo>
                      <a:pt x="3417474" y="275379"/>
                    </a:lnTo>
                    <a:cubicBezTo>
                      <a:pt x="3417474" y="291203"/>
                      <a:pt x="3411188" y="306379"/>
                      <a:pt x="3399998" y="317568"/>
                    </a:cubicBezTo>
                    <a:cubicBezTo>
                      <a:pt x="3388809" y="328758"/>
                      <a:pt x="3373632" y="335044"/>
                      <a:pt x="3357808" y="335044"/>
                    </a:cubicBezTo>
                    <a:lnTo>
                      <a:pt x="59665" y="335044"/>
                    </a:lnTo>
                    <a:cubicBezTo>
                      <a:pt x="43841" y="335044"/>
                      <a:pt x="28665" y="328758"/>
                      <a:pt x="17476" y="317568"/>
                    </a:cubicBezTo>
                    <a:cubicBezTo>
                      <a:pt x="6286" y="306379"/>
                      <a:pt x="0" y="291203"/>
                      <a:pt x="0" y="275379"/>
                    </a:cubicBezTo>
                    <a:lnTo>
                      <a:pt x="0" y="59665"/>
                    </a:lnTo>
                    <a:cubicBezTo>
                      <a:pt x="0" y="43841"/>
                      <a:pt x="6286" y="28665"/>
                      <a:pt x="17476" y="17476"/>
                    </a:cubicBezTo>
                    <a:cubicBezTo>
                      <a:pt x="28665" y="6286"/>
                      <a:pt x="43841" y="0"/>
                      <a:pt x="59665" y="0"/>
                    </a:cubicBezTo>
                    <a:lnTo>
                      <a:pt x="3357808" y="0"/>
                    </a:lnTo>
                    <a:cubicBezTo>
                      <a:pt x="3373632" y="0"/>
                      <a:pt x="3388809" y="6286"/>
                      <a:pt x="3399998" y="17476"/>
                    </a:cubicBezTo>
                    <a:cubicBezTo>
                      <a:pt x="3411188" y="28665"/>
                      <a:pt x="3417474" y="43841"/>
                      <a:pt x="3417474" y="59665"/>
                    </a:cubicBezTo>
                    <a:close/>
                  </a:path>
                </a:pathLst>
              </a:custGeom>
              <a:solidFill>
                <a:srgbClr val="2C2C2C">
                  <a:alpha val="89804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417474" cy="373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7546" y="-542925"/>
              <a:ext cx="16743866" cy="208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6999">
                  <a:solidFill>
                    <a:srgbClr val="49CA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Description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33909" y="4277638"/>
          <a:ext cx="16230600" cy="4980662"/>
        </p:xfrm>
        <a:graphic>
          <a:graphicData uri="http://schemas.openxmlformats.org/drawingml/2006/table">
            <a:tbl>
              <a:tblPr/>
              <a:tblGrid>
                <a:gridCol w="2431408"/>
                <a:gridCol w="5683892"/>
                <a:gridCol w="8115300"/>
              </a:tblGrid>
              <a:tr h="739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Attribute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21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Unique identifier (Dropped during modeling).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21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object (Categorical)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Patient's gender (Male, Female, Other).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Age of the patient.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hypertension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int64 (Binary)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 if the patient has hypertension, 0 otherwise.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heart_disease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int64 (Binary)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 if the patient has heart disease, 0 otherwise.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61425" y="2943099"/>
            <a:ext cx="12975567" cy="722636"/>
            <a:chOff x="0" y="0"/>
            <a:chExt cx="3417433" cy="1903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7433" cy="190324"/>
            </a:xfrm>
            <a:custGeom>
              <a:avLst/>
              <a:gdLst/>
              <a:ahLst/>
              <a:cxnLst/>
              <a:rect r="r" b="b" t="t" l="l"/>
              <a:pathLst>
                <a:path h="190324" w="3417433">
                  <a:moveTo>
                    <a:pt x="18496" y="0"/>
                  </a:moveTo>
                  <a:lnTo>
                    <a:pt x="3398937" y="0"/>
                  </a:lnTo>
                  <a:cubicBezTo>
                    <a:pt x="3409152" y="0"/>
                    <a:pt x="3417433" y="8281"/>
                    <a:pt x="3417433" y="18496"/>
                  </a:cubicBezTo>
                  <a:lnTo>
                    <a:pt x="3417433" y="171828"/>
                  </a:lnTo>
                  <a:cubicBezTo>
                    <a:pt x="3417433" y="182043"/>
                    <a:pt x="3409152" y="190324"/>
                    <a:pt x="3398937" y="190324"/>
                  </a:cubicBezTo>
                  <a:lnTo>
                    <a:pt x="18496" y="190324"/>
                  </a:lnTo>
                  <a:cubicBezTo>
                    <a:pt x="8281" y="190324"/>
                    <a:pt x="0" y="182043"/>
                    <a:pt x="0" y="171828"/>
                  </a:cubicBezTo>
                  <a:lnTo>
                    <a:pt x="0" y="18496"/>
                  </a:lnTo>
                  <a:cubicBezTo>
                    <a:pt x="0" y="8281"/>
                    <a:pt x="8281" y="0"/>
                    <a:pt x="18496" y="0"/>
                  </a:cubicBezTo>
                  <a:close/>
                </a:path>
              </a:pathLst>
            </a:custGeom>
            <a:solidFill>
              <a:srgbClr val="102906">
                <a:alpha val="74902"/>
              </a:srgbClr>
            </a:solidFill>
            <a:ln w="9525" cap="rnd">
              <a:solidFill>
                <a:srgbClr val="7EF250">
                  <a:alpha val="7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17433" cy="228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64767" y="3063429"/>
            <a:ext cx="12358467" cy="36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</a:pPr>
            <a:r>
              <a:rPr lang="en-US" sz="18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description of the data with type and description of each Attribute is given/shown in the table.</a:t>
            </a:r>
          </a:p>
        </p:txBody>
      </p:sp>
    </p:spTree>
  </p:cSld>
  <p:clrMapOvr>
    <a:masterClrMapping/>
  </p:clrMapOvr>
  <p:transition spd="slow">
    <p:cover dir="lu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56216" y="1028700"/>
            <a:ext cx="12975567" cy="1272108"/>
            <a:chOff x="0" y="0"/>
            <a:chExt cx="17300757" cy="16961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300757" cy="1696144"/>
              <a:chOff x="0" y="0"/>
              <a:chExt cx="3417474" cy="3350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417474" cy="335044"/>
              </a:xfrm>
              <a:custGeom>
                <a:avLst/>
                <a:gdLst/>
                <a:ahLst/>
                <a:cxnLst/>
                <a:rect r="r" b="b" t="t" l="l"/>
                <a:pathLst>
                  <a:path h="335044" w="3417474">
                    <a:moveTo>
                      <a:pt x="3417474" y="59665"/>
                    </a:moveTo>
                    <a:lnTo>
                      <a:pt x="3417474" y="275379"/>
                    </a:lnTo>
                    <a:cubicBezTo>
                      <a:pt x="3417474" y="291203"/>
                      <a:pt x="3411188" y="306379"/>
                      <a:pt x="3399998" y="317568"/>
                    </a:cubicBezTo>
                    <a:cubicBezTo>
                      <a:pt x="3388809" y="328758"/>
                      <a:pt x="3373632" y="335044"/>
                      <a:pt x="3357808" y="335044"/>
                    </a:cubicBezTo>
                    <a:lnTo>
                      <a:pt x="59665" y="335044"/>
                    </a:lnTo>
                    <a:cubicBezTo>
                      <a:pt x="43841" y="335044"/>
                      <a:pt x="28665" y="328758"/>
                      <a:pt x="17476" y="317568"/>
                    </a:cubicBezTo>
                    <a:cubicBezTo>
                      <a:pt x="6286" y="306379"/>
                      <a:pt x="0" y="291203"/>
                      <a:pt x="0" y="275379"/>
                    </a:cubicBezTo>
                    <a:lnTo>
                      <a:pt x="0" y="59665"/>
                    </a:lnTo>
                    <a:cubicBezTo>
                      <a:pt x="0" y="43841"/>
                      <a:pt x="6286" y="28665"/>
                      <a:pt x="17476" y="17476"/>
                    </a:cubicBezTo>
                    <a:cubicBezTo>
                      <a:pt x="28665" y="6286"/>
                      <a:pt x="43841" y="0"/>
                      <a:pt x="59665" y="0"/>
                    </a:cubicBezTo>
                    <a:lnTo>
                      <a:pt x="3357808" y="0"/>
                    </a:lnTo>
                    <a:cubicBezTo>
                      <a:pt x="3373632" y="0"/>
                      <a:pt x="3388809" y="6286"/>
                      <a:pt x="3399998" y="17476"/>
                    </a:cubicBezTo>
                    <a:cubicBezTo>
                      <a:pt x="3411188" y="28665"/>
                      <a:pt x="3417474" y="43841"/>
                      <a:pt x="3417474" y="59665"/>
                    </a:cubicBezTo>
                    <a:close/>
                  </a:path>
                </a:pathLst>
              </a:custGeom>
              <a:solidFill>
                <a:srgbClr val="2C2C2C">
                  <a:alpha val="89804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417474" cy="373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7546" y="-542925"/>
              <a:ext cx="16743866" cy="208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6999">
                  <a:solidFill>
                    <a:srgbClr val="49CA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Description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33909" y="2694026"/>
          <a:ext cx="16230600" cy="6447512"/>
        </p:xfrm>
        <a:graphic>
          <a:graphicData uri="http://schemas.openxmlformats.org/drawingml/2006/table">
            <a:tbl>
              <a:tblPr/>
              <a:tblGrid>
                <a:gridCol w="2431408"/>
                <a:gridCol w="5683892"/>
                <a:gridCol w="8115300"/>
              </a:tblGrid>
              <a:tr h="7377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Attribute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ever_married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object (Categorical)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Whether the patient was ever married (Yes/No).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work_type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object (Categorical)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Patient's occupation (Private, Self-employed, Govt_job, etc.).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4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Residence_type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object (Categorical)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Type of residence (Urban/Rural).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4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avg_glucose_level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Average blood glucose level.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Body mass index (Missing values present).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smoking_status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object (Categorical)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Patient's smoking status (formerly smoked, never smoked, smokes, Unknown).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stroke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int64 (Binary)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Target Variable: 1 if the patient had a stroke, 0 otherwise.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56216" y="392646"/>
            <a:ext cx="12975567" cy="1272108"/>
            <a:chOff x="0" y="0"/>
            <a:chExt cx="17300757" cy="16961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300757" cy="1696144"/>
              <a:chOff x="0" y="0"/>
              <a:chExt cx="3417474" cy="3350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417474" cy="335044"/>
              </a:xfrm>
              <a:custGeom>
                <a:avLst/>
                <a:gdLst/>
                <a:ahLst/>
                <a:cxnLst/>
                <a:rect r="r" b="b" t="t" l="l"/>
                <a:pathLst>
                  <a:path h="335044" w="3417474">
                    <a:moveTo>
                      <a:pt x="3417474" y="59665"/>
                    </a:moveTo>
                    <a:lnTo>
                      <a:pt x="3417474" y="275379"/>
                    </a:lnTo>
                    <a:cubicBezTo>
                      <a:pt x="3417474" y="291203"/>
                      <a:pt x="3411188" y="306379"/>
                      <a:pt x="3399998" y="317568"/>
                    </a:cubicBezTo>
                    <a:cubicBezTo>
                      <a:pt x="3388809" y="328758"/>
                      <a:pt x="3373632" y="335044"/>
                      <a:pt x="3357808" y="335044"/>
                    </a:cubicBezTo>
                    <a:lnTo>
                      <a:pt x="59665" y="335044"/>
                    </a:lnTo>
                    <a:cubicBezTo>
                      <a:pt x="43841" y="335044"/>
                      <a:pt x="28665" y="328758"/>
                      <a:pt x="17476" y="317568"/>
                    </a:cubicBezTo>
                    <a:cubicBezTo>
                      <a:pt x="6286" y="306379"/>
                      <a:pt x="0" y="291203"/>
                      <a:pt x="0" y="275379"/>
                    </a:cubicBezTo>
                    <a:lnTo>
                      <a:pt x="0" y="59665"/>
                    </a:lnTo>
                    <a:cubicBezTo>
                      <a:pt x="0" y="43841"/>
                      <a:pt x="6286" y="28665"/>
                      <a:pt x="17476" y="17476"/>
                    </a:cubicBezTo>
                    <a:cubicBezTo>
                      <a:pt x="28665" y="6286"/>
                      <a:pt x="43841" y="0"/>
                      <a:pt x="59665" y="0"/>
                    </a:cubicBezTo>
                    <a:lnTo>
                      <a:pt x="3357808" y="0"/>
                    </a:lnTo>
                    <a:cubicBezTo>
                      <a:pt x="3373632" y="0"/>
                      <a:pt x="3388809" y="6286"/>
                      <a:pt x="3399998" y="17476"/>
                    </a:cubicBezTo>
                    <a:cubicBezTo>
                      <a:pt x="3411188" y="28665"/>
                      <a:pt x="3417474" y="43841"/>
                      <a:pt x="3417474" y="59665"/>
                    </a:cubicBezTo>
                    <a:close/>
                  </a:path>
                </a:pathLst>
              </a:custGeom>
              <a:solidFill>
                <a:srgbClr val="2C2C2C">
                  <a:alpha val="89804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417474" cy="373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7546" y="-542925"/>
              <a:ext cx="16743866" cy="208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6999">
                  <a:solidFill>
                    <a:srgbClr val="49CA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Methodology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36538" y="1986211"/>
            <a:ext cx="13014925" cy="7272089"/>
          </a:xfrm>
          <a:custGeom>
            <a:avLst/>
            <a:gdLst/>
            <a:ahLst/>
            <a:cxnLst/>
            <a:rect r="r" b="b" t="t" l="l"/>
            <a:pathLst>
              <a:path h="7272089" w="13014925">
                <a:moveTo>
                  <a:pt x="0" y="0"/>
                </a:moveTo>
                <a:lnTo>
                  <a:pt x="13014924" y="0"/>
                </a:lnTo>
                <a:lnTo>
                  <a:pt x="13014924" y="7272089"/>
                </a:lnTo>
                <a:lnTo>
                  <a:pt x="0" y="7272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</a:t>
            </a:r>
          </a:p>
        </p:txBody>
      </p:sp>
    </p:spTree>
  </p:cSld>
  <p:clrMapOvr>
    <a:masterClrMapping/>
  </p:clrMapOvr>
  <p:transition spd="slow">
    <p:cover dir="l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9635" y="1028700"/>
            <a:ext cx="11752517" cy="1063335"/>
            <a:chOff x="0" y="0"/>
            <a:chExt cx="3095313" cy="280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280055"/>
            </a:xfrm>
            <a:custGeom>
              <a:avLst/>
              <a:gdLst/>
              <a:ahLst/>
              <a:cxnLst/>
              <a:rect r="r" b="b" t="t" l="l"/>
              <a:pathLst>
                <a:path h="28005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14181"/>
                  </a:lnTo>
                  <a:cubicBezTo>
                    <a:pt x="3095313" y="250562"/>
                    <a:pt x="3065820" y="280055"/>
                    <a:pt x="3029439" y="280055"/>
                  </a:cubicBezTo>
                  <a:lnTo>
                    <a:pt x="65875" y="280055"/>
                  </a:lnTo>
                  <a:cubicBezTo>
                    <a:pt x="29493" y="280055"/>
                    <a:pt x="0" y="250562"/>
                    <a:pt x="0" y="214181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EF2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5313" cy="31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43268" y="755360"/>
            <a:ext cx="111852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Pre-Processing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357888" y="2381808"/>
            <a:ext cx="7906547" cy="6876492"/>
          </a:xfrm>
          <a:custGeom>
            <a:avLst/>
            <a:gdLst/>
            <a:ahLst/>
            <a:cxnLst/>
            <a:rect r="r" b="b" t="t" l="l"/>
            <a:pathLst>
              <a:path h="6876492" w="7906547">
                <a:moveTo>
                  <a:pt x="0" y="0"/>
                </a:moveTo>
                <a:lnTo>
                  <a:pt x="7906547" y="0"/>
                </a:lnTo>
                <a:lnTo>
                  <a:pt x="7906547" y="6876492"/>
                </a:lnTo>
                <a:lnTo>
                  <a:pt x="0" y="687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269" r="0" b="-713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360886"/>
            <a:ext cx="7539026" cy="6897414"/>
            <a:chOff x="0" y="0"/>
            <a:chExt cx="1985587" cy="1816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5587" cy="1816603"/>
            </a:xfrm>
            <a:custGeom>
              <a:avLst/>
              <a:gdLst/>
              <a:ahLst/>
              <a:cxnLst/>
              <a:rect r="r" b="b" t="t" l="l"/>
              <a:pathLst>
                <a:path h="1816603" w="1985587">
                  <a:moveTo>
                    <a:pt x="31834" y="0"/>
                  </a:moveTo>
                  <a:lnTo>
                    <a:pt x="1953753" y="0"/>
                  </a:lnTo>
                  <a:cubicBezTo>
                    <a:pt x="1962196" y="0"/>
                    <a:pt x="1970293" y="3354"/>
                    <a:pt x="1976263" y="9324"/>
                  </a:cubicBezTo>
                  <a:cubicBezTo>
                    <a:pt x="1982233" y="15294"/>
                    <a:pt x="1985587" y="23391"/>
                    <a:pt x="1985587" y="31834"/>
                  </a:cubicBezTo>
                  <a:lnTo>
                    <a:pt x="1985587" y="1784768"/>
                  </a:lnTo>
                  <a:cubicBezTo>
                    <a:pt x="1985587" y="1793211"/>
                    <a:pt x="1982233" y="1801308"/>
                    <a:pt x="1976263" y="1807279"/>
                  </a:cubicBezTo>
                  <a:cubicBezTo>
                    <a:pt x="1970293" y="1813249"/>
                    <a:pt x="1962196" y="1816603"/>
                    <a:pt x="1953753" y="1816603"/>
                  </a:cubicBezTo>
                  <a:lnTo>
                    <a:pt x="31834" y="1816603"/>
                  </a:lnTo>
                  <a:cubicBezTo>
                    <a:pt x="23391" y="1816603"/>
                    <a:pt x="15294" y="1813249"/>
                    <a:pt x="9324" y="1807279"/>
                  </a:cubicBezTo>
                  <a:cubicBezTo>
                    <a:pt x="3354" y="1801308"/>
                    <a:pt x="0" y="1793211"/>
                    <a:pt x="0" y="1784768"/>
                  </a:cubicBezTo>
                  <a:lnTo>
                    <a:pt x="0" y="31834"/>
                  </a:lnTo>
                  <a:cubicBezTo>
                    <a:pt x="0" y="23391"/>
                    <a:pt x="3354" y="15294"/>
                    <a:pt x="9324" y="9324"/>
                  </a:cubicBezTo>
                  <a:cubicBezTo>
                    <a:pt x="15294" y="3354"/>
                    <a:pt x="23391" y="0"/>
                    <a:pt x="31834" y="0"/>
                  </a:cubicBezTo>
                  <a:close/>
                </a:path>
              </a:pathLst>
            </a:custGeom>
            <a:solidFill>
              <a:srgbClr val="102906">
                <a:alpha val="74902"/>
              </a:srgbClr>
            </a:solidFill>
            <a:ln w="9525" cap="rnd">
              <a:solidFill>
                <a:srgbClr val="7EF250">
                  <a:alpha val="74902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5587" cy="1854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76241" y="2429949"/>
            <a:ext cx="4719044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by Step</a:t>
            </a:r>
            <a:r>
              <a:rPr lang="en-US" b="true" sz="3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9996" y="3350626"/>
            <a:ext cx="7116434" cy="561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Handling Inconsistent and Redundant Data:</a:t>
            </a: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duplicate removal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gender consistency</a:t>
            </a: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  <a:r>
              <a:rPr lang="en-US" sz="1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Missing Value Treatment:</a:t>
            </a: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BMI Median Imputation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Smoking Status Imputation</a:t>
            </a: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  <a:r>
              <a:rPr lang="en-US" sz="1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Feature Engineering and Encoding:</a:t>
            </a: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Categorical Features</a:t>
            </a:r>
          </a:p>
          <a:p>
            <a:pPr algn="l" marL="367027" indent="-183514" lvl="1">
              <a:lnSpc>
                <a:spcPts val="2750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Process, Dimensionality</a:t>
            </a: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  <a:r>
              <a:rPr lang="en-US" sz="1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Feature Scaling(Standardization)</a:t>
            </a: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  <a:r>
              <a:rPr lang="en-US" sz="1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5. Final Correlation</a:t>
            </a:r>
          </a:p>
          <a:p>
            <a:pPr algn="l">
              <a:lnSpc>
                <a:spcPts val="2750"/>
              </a:lnSpc>
            </a:pPr>
          </a:p>
        </p:txBody>
      </p:sp>
    </p:spTree>
  </p:cSld>
  <p:clrMapOvr>
    <a:masterClrMapping/>
  </p:clrMapOvr>
  <p:transition spd="slow">
    <p:cover dir="l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9635" y="1028700"/>
            <a:ext cx="11752517" cy="1063335"/>
            <a:chOff x="0" y="0"/>
            <a:chExt cx="3095313" cy="280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280055"/>
            </a:xfrm>
            <a:custGeom>
              <a:avLst/>
              <a:gdLst/>
              <a:ahLst/>
              <a:cxnLst/>
              <a:rect r="r" b="b" t="t" l="l"/>
              <a:pathLst>
                <a:path h="28005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14181"/>
                  </a:lnTo>
                  <a:cubicBezTo>
                    <a:pt x="3095313" y="250562"/>
                    <a:pt x="3065820" y="280055"/>
                    <a:pt x="3029439" y="280055"/>
                  </a:cubicBezTo>
                  <a:lnTo>
                    <a:pt x="65875" y="280055"/>
                  </a:lnTo>
                  <a:cubicBezTo>
                    <a:pt x="29493" y="280055"/>
                    <a:pt x="0" y="250562"/>
                    <a:pt x="0" y="214181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EF2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5313" cy="31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65144" y="2321593"/>
            <a:ext cx="13357712" cy="7213164"/>
          </a:xfrm>
          <a:custGeom>
            <a:avLst/>
            <a:gdLst/>
            <a:ahLst/>
            <a:cxnLst/>
            <a:rect r="r" b="b" t="t" l="l"/>
            <a:pathLst>
              <a:path h="7213164" w="13357712">
                <a:moveTo>
                  <a:pt x="0" y="0"/>
                </a:moveTo>
                <a:lnTo>
                  <a:pt x="13357712" y="0"/>
                </a:lnTo>
                <a:lnTo>
                  <a:pt x="13357712" y="7213164"/>
                </a:lnTo>
                <a:lnTo>
                  <a:pt x="0" y="7213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35757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43268" y="755360"/>
            <a:ext cx="111852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Visualization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9635" y="1028700"/>
            <a:ext cx="11752517" cy="1063335"/>
            <a:chOff x="0" y="0"/>
            <a:chExt cx="3095313" cy="280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280055"/>
            </a:xfrm>
            <a:custGeom>
              <a:avLst/>
              <a:gdLst/>
              <a:ahLst/>
              <a:cxnLst/>
              <a:rect r="r" b="b" t="t" l="l"/>
              <a:pathLst>
                <a:path h="28005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14181"/>
                  </a:lnTo>
                  <a:cubicBezTo>
                    <a:pt x="3095313" y="250562"/>
                    <a:pt x="3065820" y="280055"/>
                    <a:pt x="3029439" y="280055"/>
                  </a:cubicBezTo>
                  <a:lnTo>
                    <a:pt x="65875" y="280055"/>
                  </a:lnTo>
                  <a:cubicBezTo>
                    <a:pt x="29493" y="280055"/>
                    <a:pt x="0" y="250562"/>
                    <a:pt x="0" y="214181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EF2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5313" cy="31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165722"/>
            <a:ext cx="7456298" cy="3802712"/>
          </a:xfrm>
          <a:custGeom>
            <a:avLst/>
            <a:gdLst/>
            <a:ahLst/>
            <a:cxnLst/>
            <a:rect r="r" b="b" t="t" l="l"/>
            <a:pathLst>
              <a:path h="3802712" w="7456298">
                <a:moveTo>
                  <a:pt x="0" y="0"/>
                </a:moveTo>
                <a:lnTo>
                  <a:pt x="7456298" y="0"/>
                </a:lnTo>
                <a:lnTo>
                  <a:pt x="7456298" y="3802712"/>
                </a:lnTo>
                <a:lnTo>
                  <a:pt x="0" y="3802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57561" y="3165722"/>
            <a:ext cx="7901739" cy="3802712"/>
          </a:xfrm>
          <a:custGeom>
            <a:avLst/>
            <a:gdLst/>
            <a:ahLst/>
            <a:cxnLst/>
            <a:rect r="r" b="b" t="t" l="l"/>
            <a:pathLst>
              <a:path h="3802712" w="7901739">
                <a:moveTo>
                  <a:pt x="0" y="0"/>
                </a:moveTo>
                <a:lnTo>
                  <a:pt x="7901739" y="0"/>
                </a:lnTo>
                <a:lnTo>
                  <a:pt x="7901739" y="3802712"/>
                </a:lnTo>
                <a:lnTo>
                  <a:pt x="0" y="3802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35757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3268" y="755360"/>
            <a:ext cx="111852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Visualization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9635" y="1028700"/>
            <a:ext cx="11752517" cy="1063335"/>
            <a:chOff x="0" y="0"/>
            <a:chExt cx="3095313" cy="280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280055"/>
            </a:xfrm>
            <a:custGeom>
              <a:avLst/>
              <a:gdLst/>
              <a:ahLst/>
              <a:cxnLst/>
              <a:rect r="r" b="b" t="t" l="l"/>
              <a:pathLst>
                <a:path h="28005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14181"/>
                  </a:lnTo>
                  <a:cubicBezTo>
                    <a:pt x="3095313" y="250562"/>
                    <a:pt x="3065820" y="280055"/>
                    <a:pt x="3029439" y="280055"/>
                  </a:cubicBezTo>
                  <a:lnTo>
                    <a:pt x="65875" y="280055"/>
                  </a:lnTo>
                  <a:cubicBezTo>
                    <a:pt x="29493" y="280055"/>
                    <a:pt x="0" y="250562"/>
                    <a:pt x="0" y="214181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EF2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5313" cy="318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969443"/>
            <a:ext cx="7781859" cy="4348114"/>
          </a:xfrm>
          <a:custGeom>
            <a:avLst/>
            <a:gdLst/>
            <a:ahLst/>
            <a:cxnLst/>
            <a:rect r="r" b="b" t="t" l="l"/>
            <a:pathLst>
              <a:path h="4348114" w="7781859">
                <a:moveTo>
                  <a:pt x="0" y="0"/>
                </a:moveTo>
                <a:lnTo>
                  <a:pt x="7781859" y="0"/>
                </a:lnTo>
                <a:lnTo>
                  <a:pt x="7781859" y="4348114"/>
                </a:lnTo>
                <a:lnTo>
                  <a:pt x="0" y="4348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30099" y="2969443"/>
            <a:ext cx="7529201" cy="4348114"/>
          </a:xfrm>
          <a:custGeom>
            <a:avLst/>
            <a:gdLst/>
            <a:ahLst/>
            <a:cxnLst/>
            <a:rect r="r" b="b" t="t" l="l"/>
            <a:pathLst>
              <a:path h="4348114" w="7529201">
                <a:moveTo>
                  <a:pt x="0" y="0"/>
                </a:moveTo>
                <a:lnTo>
                  <a:pt x="7529201" y="0"/>
                </a:lnTo>
                <a:lnTo>
                  <a:pt x="7529201" y="4348114"/>
                </a:lnTo>
                <a:lnTo>
                  <a:pt x="0" y="4348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35757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3268" y="755360"/>
            <a:ext cx="111852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Visualization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0470" y="700405"/>
            <a:ext cx="11752517" cy="1253558"/>
            <a:chOff x="0" y="0"/>
            <a:chExt cx="3095313" cy="330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30155"/>
            </a:xfrm>
            <a:custGeom>
              <a:avLst/>
              <a:gdLst/>
              <a:ahLst/>
              <a:cxnLst/>
              <a:rect r="r" b="b" t="t" l="l"/>
              <a:pathLst>
                <a:path h="33015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64281"/>
                  </a:lnTo>
                  <a:cubicBezTo>
                    <a:pt x="3095313" y="300662"/>
                    <a:pt x="3065820" y="330155"/>
                    <a:pt x="3029439" y="330155"/>
                  </a:cubicBezTo>
                  <a:lnTo>
                    <a:pt x="65875" y="330155"/>
                  </a:lnTo>
                  <a:cubicBezTo>
                    <a:pt x="29493" y="330155"/>
                    <a:pt x="0" y="300662"/>
                    <a:pt x="0" y="264281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102906"/>
            </a:solidFill>
            <a:ln w="9525" cap="rnd">
              <a:solidFill>
                <a:srgbClr val="7ED95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095313" cy="38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74103" y="557530"/>
            <a:ext cx="111852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Models Used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425329"/>
            <a:ext cx="16230600" cy="7832971"/>
          </a:xfrm>
          <a:custGeom>
            <a:avLst/>
            <a:gdLst/>
            <a:ahLst/>
            <a:cxnLst/>
            <a:rect r="r" b="b" t="t" l="l"/>
            <a:pathLst>
              <a:path h="7832971" w="16230600">
                <a:moveTo>
                  <a:pt x="0" y="0"/>
                </a:moveTo>
                <a:lnTo>
                  <a:pt x="16230600" y="0"/>
                </a:lnTo>
                <a:lnTo>
                  <a:pt x="16230600" y="7832971"/>
                </a:lnTo>
                <a:lnTo>
                  <a:pt x="0" y="783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709" r="0" b="-92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13</a:t>
            </a:r>
          </a:p>
        </p:txBody>
      </p:sp>
    </p:spTree>
  </p:cSld>
  <p:clrMapOvr>
    <a:masterClrMapping/>
  </p:clrMapOvr>
  <p:transition spd="slow">
    <p:cover dir="l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432923"/>
            <a:ext cx="11752517" cy="1191554"/>
            <a:chOff x="0" y="0"/>
            <a:chExt cx="3095313" cy="31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13825"/>
            </a:xfrm>
            <a:custGeom>
              <a:avLst/>
              <a:gdLst/>
              <a:ahLst/>
              <a:cxnLst/>
              <a:rect r="r" b="b" t="t" l="l"/>
              <a:pathLst>
                <a:path h="31382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47950"/>
                  </a:lnTo>
                  <a:cubicBezTo>
                    <a:pt x="3095313" y="284332"/>
                    <a:pt x="3065820" y="313825"/>
                    <a:pt x="3029439" y="313825"/>
                  </a:cubicBezTo>
                  <a:lnTo>
                    <a:pt x="65875" y="313825"/>
                  </a:lnTo>
                  <a:cubicBezTo>
                    <a:pt x="29493" y="313825"/>
                    <a:pt x="0" y="284332"/>
                    <a:pt x="0" y="247950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5313" cy="351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026012"/>
            <a:ext cx="8649256" cy="6591798"/>
            <a:chOff x="0" y="0"/>
            <a:chExt cx="1775506" cy="13531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5506" cy="1353154"/>
            </a:xfrm>
            <a:custGeom>
              <a:avLst/>
              <a:gdLst/>
              <a:ahLst/>
              <a:cxnLst/>
              <a:rect r="r" b="b" t="t" l="l"/>
              <a:pathLst>
                <a:path h="1353154" w="1775506">
                  <a:moveTo>
                    <a:pt x="27748" y="0"/>
                  </a:moveTo>
                  <a:lnTo>
                    <a:pt x="1747758" y="0"/>
                  </a:lnTo>
                  <a:cubicBezTo>
                    <a:pt x="1755117" y="0"/>
                    <a:pt x="1762175" y="2923"/>
                    <a:pt x="1767379" y="8127"/>
                  </a:cubicBezTo>
                  <a:cubicBezTo>
                    <a:pt x="1772582" y="13331"/>
                    <a:pt x="1775506" y="20389"/>
                    <a:pt x="1775506" y="27748"/>
                  </a:cubicBezTo>
                  <a:lnTo>
                    <a:pt x="1775506" y="1325406"/>
                  </a:lnTo>
                  <a:cubicBezTo>
                    <a:pt x="1775506" y="1332765"/>
                    <a:pt x="1772582" y="1339823"/>
                    <a:pt x="1767379" y="1345027"/>
                  </a:cubicBezTo>
                  <a:cubicBezTo>
                    <a:pt x="1762175" y="1350230"/>
                    <a:pt x="1755117" y="1353154"/>
                    <a:pt x="1747758" y="1353154"/>
                  </a:cubicBezTo>
                  <a:lnTo>
                    <a:pt x="27748" y="1353154"/>
                  </a:lnTo>
                  <a:cubicBezTo>
                    <a:pt x="12423" y="1353154"/>
                    <a:pt x="0" y="1340731"/>
                    <a:pt x="0" y="1325406"/>
                  </a:cubicBezTo>
                  <a:lnTo>
                    <a:pt x="0" y="27748"/>
                  </a:lnTo>
                  <a:cubicBezTo>
                    <a:pt x="0" y="20389"/>
                    <a:pt x="2923" y="13331"/>
                    <a:pt x="8127" y="8127"/>
                  </a:cubicBezTo>
                  <a:cubicBezTo>
                    <a:pt x="13331" y="2923"/>
                    <a:pt x="20389" y="0"/>
                    <a:pt x="27748" y="0"/>
                  </a:cubicBezTo>
                  <a:close/>
                </a:path>
              </a:pathLst>
            </a:custGeom>
            <a:solidFill>
              <a:srgbClr val="F1EE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5506" cy="1391254"/>
            </a:xfrm>
            <a:prstGeom prst="rect">
              <a:avLst/>
            </a:prstGeom>
          </p:spPr>
          <p:txBody>
            <a:bodyPr anchor="ctr" rtlCol="false" tIns="71510" lIns="71510" bIns="71510" rIns="7151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50346" y="307975"/>
            <a:ext cx="878730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Logistic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348" y="2771713"/>
            <a:ext cx="824219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ogistic Regression is a statistical model used for binary classification problems.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348" y="3426110"/>
            <a:ext cx="8053435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It Works: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Calculates weighted sum of input features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Applies sigmoid function to predict probability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Outputs class based on threshold value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9115" y="4842925"/>
            <a:ext cx="8265899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Advantages: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mple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mod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erpret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ll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as a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ine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79115" y="6546229"/>
            <a:ext cx="8265899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Dise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ase prediction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Spam detection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 churn analysis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Heart Stroke Prediction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855274" y="2497531"/>
            <a:ext cx="7409161" cy="5648760"/>
          </a:xfrm>
          <a:custGeom>
            <a:avLst/>
            <a:gdLst/>
            <a:ahLst/>
            <a:cxnLst/>
            <a:rect r="r" b="b" t="t" l="l"/>
            <a:pathLst>
              <a:path h="5648760" w="7409161">
                <a:moveTo>
                  <a:pt x="0" y="0"/>
                </a:moveTo>
                <a:lnTo>
                  <a:pt x="7409161" y="0"/>
                </a:lnTo>
                <a:lnTo>
                  <a:pt x="7409161" y="5648760"/>
                </a:lnTo>
                <a:lnTo>
                  <a:pt x="0" y="5648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10" t="0" r="-5112" b="0"/>
            </a:stretch>
          </a:blipFill>
        </p:spPr>
      </p:sp>
    </p:spTree>
  </p:cSld>
  <p:clrMapOvr>
    <a:masterClrMapping/>
  </p:clrMapOvr>
  <p:transition spd="slow">
    <p:cover dir="lu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3169" y="432923"/>
            <a:ext cx="12468521" cy="1345439"/>
            <a:chOff x="0" y="0"/>
            <a:chExt cx="3283890" cy="3543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3890" cy="354354"/>
            </a:xfrm>
            <a:custGeom>
              <a:avLst/>
              <a:gdLst/>
              <a:ahLst/>
              <a:cxnLst/>
              <a:rect r="r" b="b" t="t" l="l"/>
              <a:pathLst>
                <a:path h="354354" w="3283890">
                  <a:moveTo>
                    <a:pt x="62092" y="0"/>
                  </a:moveTo>
                  <a:lnTo>
                    <a:pt x="3221799" y="0"/>
                  </a:lnTo>
                  <a:cubicBezTo>
                    <a:pt x="3256091" y="0"/>
                    <a:pt x="3283890" y="27799"/>
                    <a:pt x="3283890" y="62092"/>
                  </a:cubicBezTo>
                  <a:lnTo>
                    <a:pt x="3283890" y="292263"/>
                  </a:lnTo>
                  <a:cubicBezTo>
                    <a:pt x="3283890" y="326555"/>
                    <a:pt x="3256091" y="354354"/>
                    <a:pt x="3221799" y="354354"/>
                  </a:cubicBezTo>
                  <a:lnTo>
                    <a:pt x="62092" y="354354"/>
                  </a:lnTo>
                  <a:cubicBezTo>
                    <a:pt x="27799" y="354354"/>
                    <a:pt x="0" y="326555"/>
                    <a:pt x="0" y="292263"/>
                  </a:cubicBezTo>
                  <a:lnTo>
                    <a:pt x="0" y="62092"/>
                  </a:lnTo>
                  <a:cubicBezTo>
                    <a:pt x="0" y="27799"/>
                    <a:pt x="27799" y="0"/>
                    <a:pt x="62092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3890" cy="392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026012"/>
            <a:ext cx="8649256" cy="6591798"/>
            <a:chOff x="0" y="0"/>
            <a:chExt cx="1775506" cy="13531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5506" cy="1353154"/>
            </a:xfrm>
            <a:custGeom>
              <a:avLst/>
              <a:gdLst/>
              <a:ahLst/>
              <a:cxnLst/>
              <a:rect r="r" b="b" t="t" l="l"/>
              <a:pathLst>
                <a:path h="1353154" w="1775506">
                  <a:moveTo>
                    <a:pt x="27748" y="0"/>
                  </a:moveTo>
                  <a:lnTo>
                    <a:pt x="1747758" y="0"/>
                  </a:lnTo>
                  <a:cubicBezTo>
                    <a:pt x="1755117" y="0"/>
                    <a:pt x="1762175" y="2923"/>
                    <a:pt x="1767379" y="8127"/>
                  </a:cubicBezTo>
                  <a:cubicBezTo>
                    <a:pt x="1772582" y="13331"/>
                    <a:pt x="1775506" y="20389"/>
                    <a:pt x="1775506" y="27748"/>
                  </a:cubicBezTo>
                  <a:lnTo>
                    <a:pt x="1775506" y="1325406"/>
                  </a:lnTo>
                  <a:cubicBezTo>
                    <a:pt x="1775506" y="1332765"/>
                    <a:pt x="1772582" y="1339823"/>
                    <a:pt x="1767379" y="1345027"/>
                  </a:cubicBezTo>
                  <a:cubicBezTo>
                    <a:pt x="1762175" y="1350230"/>
                    <a:pt x="1755117" y="1353154"/>
                    <a:pt x="1747758" y="1353154"/>
                  </a:cubicBezTo>
                  <a:lnTo>
                    <a:pt x="27748" y="1353154"/>
                  </a:lnTo>
                  <a:cubicBezTo>
                    <a:pt x="12423" y="1353154"/>
                    <a:pt x="0" y="1340731"/>
                    <a:pt x="0" y="1325406"/>
                  </a:cubicBezTo>
                  <a:lnTo>
                    <a:pt x="0" y="27748"/>
                  </a:lnTo>
                  <a:cubicBezTo>
                    <a:pt x="0" y="20389"/>
                    <a:pt x="2923" y="13331"/>
                    <a:pt x="8127" y="8127"/>
                  </a:cubicBezTo>
                  <a:cubicBezTo>
                    <a:pt x="13331" y="2923"/>
                    <a:pt x="20389" y="0"/>
                    <a:pt x="27748" y="0"/>
                  </a:cubicBezTo>
                  <a:close/>
                </a:path>
              </a:pathLst>
            </a:custGeom>
            <a:solidFill>
              <a:srgbClr val="F1EE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5506" cy="1391254"/>
            </a:xfrm>
            <a:prstGeom prst="rect">
              <a:avLst/>
            </a:prstGeom>
          </p:spPr>
          <p:txBody>
            <a:bodyPr anchor="ctr" rtlCol="false" tIns="71510" lIns="71510" bIns="71510" rIns="7151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04607" y="299573"/>
            <a:ext cx="1175641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K-Nearest Neighbors (KNN)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730" y="2738531"/>
            <a:ext cx="824219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KNN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is a simple, instance-based learning algorithm that classifies data based on similarity to nearby data points.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965" y="3568276"/>
            <a:ext cx="8053435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It Works: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Calculates distance between new data and training data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Selects the ‘K’ closest neighbors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Assigns the class based on majority vote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4733" y="5046556"/>
            <a:ext cx="8265899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Advantages: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u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rst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 p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datasets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94733" y="6688395"/>
            <a:ext cx="8265899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Slow fo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 large datasets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Sensitive to choice of K and distance metric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924075" y="3007368"/>
            <a:ext cx="7335225" cy="4629086"/>
          </a:xfrm>
          <a:custGeom>
            <a:avLst/>
            <a:gdLst/>
            <a:ahLst/>
            <a:cxnLst/>
            <a:rect r="r" b="b" t="t" l="l"/>
            <a:pathLst>
              <a:path h="4629086" w="7335225">
                <a:moveTo>
                  <a:pt x="0" y="0"/>
                </a:moveTo>
                <a:lnTo>
                  <a:pt x="7335225" y="0"/>
                </a:lnTo>
                <a:lnTo>
                  <a:pt x="7335225" y="4629086"/>
                </a:lnTo>
                <a:lnTo>
                  <a:pt x="0" y="462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18" t="0" r="-2292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432923"/>
            <a:ext cx="11752517" cy="1191554"/>
            <a:chOff x="0" y="0"/>
            <a:chExt cx="3095313" cy="31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13825"/>
            </a:xfrm>
            <a:custGeom>
              <a:avLst/>
              <a:gdLst/>
              <a:ahLst/>
              <a:cxnLst/>
              <a:rect r="r" b="b" t="t" l="l"/>
              <a:pathLst>
                <a:path h="31382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47950"/>
                  </a:lnTo>
                  <a:cubicBezTo>
                    <a:pt x="3095313" y="284332"/>
                    <a:pt x="3065820" y="313825"/>
                    <a:pt x="3029439" y="313825"/>
                  </a:cubicBezTo>
                  <a:lnTo>
                    <a:pt x="65875" y="313825"/>
                  </a:lnTo>
                  <a:cubicBezTo>
                    <a:pt x="29493" y="313825"/>
                    <a:pt x="0" y="284332"/>
                    <a:pt x="0" y="247950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5313" cy="351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026012"/>
            <a:ext cx="8649256" cy="6591798"/>
            <a:chOff x="0" y="0"/>
            <a:chExt cx="1775506" cy="13531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5506" cy="1353154"/>
            </a:xfrm>
            <a:custGeom>
              <a:avLst/>
              <a:gdLst/>
              <a:ahLst/>
              <a:cxnLst/>
              <a:rect r="r" b="b" t="t" l="l"/>
              <a:pathLst>
                <a:path h="1353154" w="1775506">
                  <a:moveTo>
                    <a:pt x="27748" y="0"/>
                  </a:moveTo>
                  <a:lnTo>
                    <a:pt x="1747758" y="0"/>
                  </a:lnTo>
                  <a:cubicBezTo>
                    <a:pt x="1755117" y="0"/>
                    <a:pt x="1762175" y="2923"/>
                    <a:pt x="1767379" y="8127"/>
                  </a:cubicBezTo>
                  <a:cubicBezTo>
                    <a:pt x="1772582" y="13331"/>
                    <a:pt x="1775506" y="20389"/>
                    <a:pt x="1775506" y="27748"/>
                  </a:cubicBezTo>
                  <a:lnTo>
                    <a:pt x="1775506" y="1325406"/>
                  </a:lnTo>
                  <a:cubicBezTo>
                    <a:pt x="1775506" y="1332765"/>
                    <a:pt x="1772582" y="1339823"/>
                    <a:pt x="1767379" y="1345027"/>
                  </a:cubicBezTo>
                  <a:cubicBezTo>
                    <a:pt x="1762175" y="1350230"/>
                    <a:pt x="1755117" y="1353154"/>
                    <a:pt x="1747758" y="1353154"/>
                  </a:cubicBezTo>
                  <a:lnTo>
                    <a:pt x="27748" y="1353154"/>
                  </a:lnTo>
                  <a:cubicBezTo>
                    <a:pt x="12423" y="1353154"/>
                    <a:pt x="0" y="1340731"/>
                    <a:pt x="0" y="1325406"/>
                  </a:cubicBezTo>
                  <a:lnTo>
                    <a:pt x="0" y="27748"/>
                  </a:lnTo>
                  <a:cubicBezTo>
                    <a:pt x="0" y="20389"/>
                    <a:pt x="2923" y="13331"/>
                    <a:pt x="8127" y="8127"/>
                  </a:cubicBezTo>
                  <a:cubicBezTo>
                    <a:pt x="13331" y="2923"/>
                    <a:pt x="20389" y="0"/>
                    <a:pt x="27748" y="0"/>
                  </a:cubicBezTo>
                  <a:close/>
                </a:path>
              </a:pathLst>
            </a:custGeom>
            <a:solidFill>
              <a:srgbClr val="F1EE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5506" cy="1391254"/>
            </a:xfrm>
            <a:prstGeom prst="rect">
              <a:avLst/>
            </a:prstGeom>
          </p:spPr>
          <p:txBody>
            <a:bodyPr anchor="ctr" rtlCol="false" tIns="71510" lIns="71510" bIns="71510" rIns="7151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773209" y="290048"/>
            <a:ext cx="674158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Tree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730" y="2738531"/>
            <a:ext cx="824219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Decisi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Tree is a flowchart-like model that makes decisions based on feature conditions.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965" y="3568276"/>
            <a:ext cx="8053435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It Works: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Spli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ts data into branches using decision rules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Each internal node represents a condition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Leaf nodes represent outcomes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4733" y="4985091"/>
            <a:ext cx="8265899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Advantages: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 to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erpr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 data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sing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Handles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both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num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rical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categor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94733" y="6688395"/>
            <a:ext cx="8265899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 overfit the data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Less accurate compared to ensemble methods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984129" y="2853070"/>
            <a:ext cx="7275171" cy="4580861"/>
          </a:xfrm>
          <a:custGeom>
            <a:avLst/>
            <a:gdLst/>
            <a:ahLst/>
            <a:cxnLst/>
            <a:rect r="r" b="b" t="t" l="l"/>
            <a:pathLst>
              <a:path h="4580861" w="7275171">
                <a:moveTo>
                  <a:pt x="0" y="0"/>
                </a:moveTo>
                <a:lnTo>
                  <a:pt x="7275171" y="0"/>
                </a:lnTo>
                <a:lnTo>
                  <a:pt x="7275171" y="4580860"/>
                </a:lnTo>
                <a:lnTo>
                  <a:pt x="0" y="4580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2" r="-2761" b="-1102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432923"/>
            <a:ext cx="11752517" cy="1191554"/>
            <a:chOff x="0" y="0"/>
            <a:chExt cx="3095313" cy="31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13825"/>
            </a:xfrm>
            <a:custGeom>
              <a:avLst/>
              <a:gdLst/>
              <a:ahLst/>
              <a:cxnLst/>
              <a:rect r="r" b="b" t="t" l="l"/>
              <a:pathLst>
                <a:path h="31382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47950"/>
                  </a:lnTo>
                  <a:cubicBezTo>
                    <a:pt x="3095313" y="284332"/>
                    <a:pt x="3065820" y="313825"/>
                    <a:pt x="3029439" y="313825"/>
                  </a:cubicBezTo>
                  <a:lnTo>
                    <a:pt x="65875" y="313825"/>
                  </a:lnTo>
                  <a:cubicBezTo>
                    <a:pt x="29493" y="313825"/>
                    <a:pt x="0" y="284332"/>
                    <a:pt x="0" y="247950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5313" cy="351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026012"/>
            <a:ext cx="8649256" cy="6591798"/>
            <a:chOff x="0" y="0"/>
            <a:chExt cx="1775506" cy="13531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5506" cy="1353154"/>
            </a:xfrm>
            <a:custGeom>
              <a:avLst/>
              <a:gdLst/>
              <a:ahLst/>
              <a:cxnLst/>
              <a:rect r="r" b="b" t="t" l="l"/>
              <a:pathLst>
                <a:path h="1353154" w="1775506">
                  <a:moveTo>
                    <a:pt x="27748" y="0"/>
                  </a:moveTo>
                  <a:lnTo>
                    <a:pt x="1747758" y="0"/>
                  </a:lnTo>
                  <a:cubicBezTo>
                    <a:pt x="1755117" y="0"/>
                    <a:pt x="1762175" y="2923"/>
                    <a:pt x="1767379" y="8127"/>
                  </a:cubicBezTo>
                  <a:cubicBezTo>
                    <a:pt x="1772582" y="13331"/>
                    <a:pt x="1775506" y="20389"/>
                    <a:pt x="1775506" y="27748"/>
                  </a:cubicBezTo>
                  <a:lnTo>
                    <a:pt x="1775506" y="1325406"/>
                  </a:lnTo>
                  <a:cubicBezTo>
                    <a:pt x="1775506" y="1332765"/>
                    <a:pt x="1772582" y="1339823"/>
                    <a:pt x="1767379" y="1345027"/>
                  </a:cubicBezTo>
                  <a:cubicBezTo>
                    <a:pt x="1762175" y="1350230"/>
                    <a:pt x="1755117" y="1353154"/>
                    <a:pt x="1747758" y="1353154"/>
                  </a:cubicBezTo>
                  <a:lnTo>
                    <a:pt x="27748" y="1353154"/>
                  </a:lnTo>
                  <a:cubicBezTo>
                    <a:pt x="12423" y="1353154"/>
                    <a:pt x="0" y="1340731"/>
                    <a:pt x="0" y="1325406"/>
                  </a:cubicBezTo>
                  <a:lnTo>
                    <a:pt x="0" y="27748"/>
                  </a:lnTo>
                  <a:cubicBezTo>
                    <a:pt x="0" y="20389"/>
                    <a:pt x="2923" y="13331"/>
                    <a:pt x="8127" y="8127"/>
                  </a:cubicBezTo>
                  <a:cubicBezTo>
                    <a:pt x="13331" y="2923"/>
                    <a:pt x="20389" y="0"/>
                    <a:pt x="277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5506" cy="1391254"/>
            </a:xfrm>
            <a:prstGeom prst="rect">
              <a:avLst/>
            </a:prstGeom>
          </p:spPr>
          <p:txBody>
            <a:bodyPr anchor="ctr" rtlCol="false" tIns="71510" lIns="71510" bIns="71510" rIns="7151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790650" y="2680577"/>
            <a:ext cx="7468650" cy="4815817"/>
          </a:xfrm>
          <a:custGeom>
            <a:avLst/>
            <a:gdLst/>
            <a:ahLst/>
            <a:cxnLst/>
            <a:rect r="r" b="b" t="t" l="l"/>
            <a:pathLst>
              <a:path h="4815817" w="7468650">
                <a:moveTo>
                  <a:pt x="0" y="0"/>
                </a:moveTo>
                <a:lnTo>
                  <a:pt x="7468650" y="0"/>
                </a:lnTo>
                <a:lnTo>
                  <a:pt x="7468650" y="4815818"/>
                </a:lnTo>
                <a:lnTo>
                  <a:pt x="0" y="4815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15" t="0" r="-731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81361" y="307975"/>
            <a:ext cx="1112527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Random Forest Classifier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9730" y="2738531"/>
            <a:ext cx="824219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Rand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om Forest is an ensemble machine learning algorithm that builds multiple decision trees and combines their outputs to improve prediction accuracy.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965" y="3568276"/>
            <a:ext cx="8053435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It Works: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Creates many decision trees using random subsets of data and features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Each tree makes a prediction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Final output is decided by majority voting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4733" y="4985091"/>
            <a:ext cx="8265899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Advantages: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 accuracy and robustness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Reduces overfitting compared to single decision trees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Handles large datasets and missing values well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94733" y="6688395"/>
            <a:ext cx="8265899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Fraud detection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Medical diagnosis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Recommendation systems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432923"/>
            <a:ext cx="11752517" cy="1191554"/>
            <a:chOff x="0" y="0"/>
            <a:chExt cx="3095313" cy="31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13825"/>
            </a:xfrm>
            <a:custGeom>
              <a:avLst/>
              <a:gdLst/>
              <a:ahLst/>
              <a:cxnLst/>
              <a:rect r="r" b="b" t="t" l="l"/>
              <a:pathLst>
                <a:path h="31382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47950"/>
                  </a:lnTo>
                  <a:cubicBezTo>
                    <a:pt x="3095313" y="284332"/>
                    <a:pt x="3065820" y="313825"/>
                    <a:pt x="3029439" y="313825"/>
                  </a:cubicBezTo>
                  <a:lnTo>
                    <a:pt x="65875" y="313825"/>
                  </a:lnTo>
                  <a:cubicBezTo>
                    <a:pt x="29493" y="313825"/>
                    <a:pt x="0" y="284332"/>
                    <a:pt x="0" y="247950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95313" cy="36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026012"/>
            <a:ext cx="8649256" cy="6591798"/>
            <a:chOff x="0" y="0"/>
            <a:chExt cx="1775506" cy="13531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5506" cy="1353154"/>
            </a:xfrm>
            <a:custGeom>
              <a:avLst/>
              <a:gdLst/>
              <a:ahLst/>
              <a:cxnLst/>
              <a:rect r="r" b="b" t="t" l="l"/>
              <a:pathLst>
                <a:path h="1353154" w="1775506">
                  <a:moveTo>
                    <a:pt x="27748" y="0"/>
                  </a:moveTo>
                  <a:lnTo>
                    <a:pt x="1747758" y="0"/>
                  </a:lnTo>
                  <a:cubicBezTo>
                    <a:pt x="1755117" y="0"/>
                    <a:pt x="1762175" y="2923"/>
                    <a:pt x="1767379" y="8127"/>
                  </a:cubicBezTo>
                  <a:cubicBezTo>
                    <a:pt x="1772582" y="13331"/>
                    <a:pt x="1775506" y="20389"/>
                    <a:pt x="1775506" y="27748"/>
                  </a:cubicBezTo>
                  <a:lnTo>
                    <a:pt x="1775506" y="1325406"/>
                  </a:lnTo>
                  <a:cubicBezTo>
                    <a:pt x="1775506" y="1332765"/>
                    <a:pt x="1772582" y="1339823"/>
                    <a:pt x="1767379" y="1345027"/>
                  </a:cubicBezTo>
                  <a:cubicBezTo>
                    <a:pt x="1762175" y="1350230"/>
                    <a:pt x="1755117" y="1353154"/>
                    <a:pt x="1747758" y="1353154"/>
                  </a:cubicBezTo>
                  <a:lnTo>
                    <a:pt x="27748" y="1353154"/>
                  </a:lnTo>
                  <a:cubicBezTo>
                    <a:pt x="12423" y="1353154"/>
                    <a:pt x="0" y="1340731"/>
                    <a:pt x="0" y="1325406"/>
                  </a:cubicBezTo>
                  <a:lnTo>
                    <a:pt x="0" y="27748"/>
                  </a:lnTo>
                  <a:cubicBezTo>
                    <a:pt x="0" y="20389"/>
                    <a:pt x="2923" y="13331"/>
                    <a:pt x="8127" y="8127"/>
                  </a:cubicBezTo>
                  <a:cubicBezTo>
                    <a:pt x="13331" y="2923"/>
                    <a:pt x="20389" y="0"/>
                    <a:pt x="27748" y="0"/>
                  </a:cubicBezTo>
                  <a:close/>
                </a:path>
              </a:pathLst>
            </a:custGeom>
            <a:solidFill>
              <a:srgbClr val="F1EE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5506" cy="1391254"/>
            </a:xfrm>
            <a:prstGeom prst="rect">
              <a:avLst/>
            </a:prstGeom>
          </p:spPr>
          <p:txBody>
            <a:bodyPr anchor="ctr" rtlCol="false" tIns="71510" lIns="71510" bIns="71510" rIns="7151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62673" y="325902"/>
            <a:ext cx="896265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SVC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730" y="2738531"/>
            <a:ext cx="824219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 Vector Classification (SVC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 is a powerful supervised learning algorithm used for classification by finding the best boundary between classes.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965" y="3568276"/>
            <a:ext cx="8053435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It Works: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entifies the optimal hyperplane that separates classes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kernel functions for non-linear data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Maximizes margin between classes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4733" y="4985091"/>
            <a:ext cx="8265899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Advantages: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Works well with h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igh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-dimension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tiv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 comple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decision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bounda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ov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rfi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94733" y="6688395"/>
            <a:ext cx="8265899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</a:t>
            </a: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age recognition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classification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Bioinformatics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790139" y="2247167"/>
            <a:ext cx="6469161" cy="6149488"/>
          </a:xfrm>
          <a:custGeom>
            <a:avLst/>
            <a:gdLst/>
            <a:ahLst/>
            <a:cxnLst/>
            <a:rect r="r" b="b" t="t" l="l"/>
            <a:pathLst>
              <a:path h="6149488" w="6469161">
                <a:moveTo>
                  <a:pt x="0" y="0"/>
                </a:moveTo>
                <a:lnTo>
                  <a:pt x="6469161" y="0"/>
                </a:lnTo>
                <a:lnTo>
                  <a:pt x="6469161" y="6149488"/>
                </a:lnTo>
                <a:lnTo>
                  <a:pt x="0" y="6149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79" t="0" r="-33613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1028700"/>
            <a:ext cx="11752517" cy="1191554"/>
            <a:chOff x="0" y="0"/>
            <a:chExt cx="3095313" cy="31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13825"/>
            </a:xfrm>
            <a:custGeom>
              <a:avLst/>
              <a:gdLst/>
              <a:ahLst/>
              <a:cxnLst/>
              <a:rect r="r" b="b" t="t" l="l"/>
              <a:pathLst>
                <a:path h="31382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47950"/>
                  </a:lnTo>
                  <a:cubicBezTo>
                    <a:pt x="3095313" y="284332"/>
                    <a:pt x="3065820" y="313825"/>
                    <a:pt x="3029439" y="313825"/>
                  </a:cubicBezTo>
                  <a:lnTo>
                    <a:pt x="65875" y="313825"/>
                  </a:lnTo>
                  <a:cubicBezTo>
                    <a:pt x="29493" y="313825"/>
                    <a:pt x="0" y="284332"/>
                    <a:pt x="0" y="247950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95313" cy="36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28762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98406" y="328762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62673" y="921679"/>
            <a:ext cx="896265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ROC Curves</a:t>
            </a:r>
          </a:p>
        </p:txBody>
      </p:sp>
    </p:spTree>
  </p:cSld>
  <p:clrMapOvr>
    <a:masterClrMapping/>
  </p:clrMapOvr>
  <p:transition spd="slow">
    <p:cover dir="lu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1028700"/>
            <a:ext cx="11752517" cy="1191554"/>
            <a:chOff x="0" y="0"/>
            <a:chExt cx="3095313" cy="31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13825"/>
            </a:xfrm>
            <a:custGeom>
              <a:avLst/>
              <a:gdLst/>
              <a:ahLst/>
              <a:cxnLst/>
              <a:rect r="r" b="b" t="t" l="l"/>
              <a:pathLst>
                <a:path h="31382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47950"/>
                  </a:lnTo>
                  <a:cubicBezTo>
                    <a:pt x="3095313" y="284332"/>
                    <a:pt x="3065820" y="313825"/>
                    <a:pt x="3029439" y="313825"/>
                  </a:cubicBezTo>
                  <a:lnTo>
                    <a:pt x="65875" y="313825"/>
                  </a:lnTo>
                  <a:cubicBezTo>
                    <a:pt x="29493" y="313825"/>
                    <a:pt x="0" y="284332"/>
                    <a:pt x="0" y="247950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95313" cy="36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28762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98406" y="328762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62673" y="921679"/>
            <a:ext cx="896265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ROC Curves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1028700"/>
            <a:ext cx="11752517" cy="1191554"/>
            <a:chOff x="0" y="0"/>
            <a:chExt cx="3095313" cy="313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13825"/>
            </a:xfrm>
            <a:custGeom>
              <a:avLst/>
              <a:gdLst/>
              <a:ahLst/>
              <a:cxnLst/>
              <a:rect r="r" b="b" t="t" l="l"/>
              <a:pathLst>
                <a:path h="31382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47950"/>
                  </a:lnTo>
                  <a:cubicBezTo>
                    <a:pt x="3095313" y="284332"/>
                    <a:pt x="3065820" y="313825"/>
                    <a:pt x="3029439" y="313825"/>
                  </a:cubicBezTo>
                  <a:lnTo>
                    <a:pt x="65875" y="313825"/>
                  </a:lnTo>
                  <a:cubicBezTo>
                    <a:pt x="29493" y="313825"/>
                    <a:pt x="0" y="284332"/>
                    <a:pt x="0" y="247950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49CA1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95313" cy="36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63553" y="2790810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62673" y="921679"/>
            <a:ext cx="896265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7EF25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ROC Curves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700405"/>
            <a:ext cx="11752517" cy="1253558"/>
            <a:chOff x="0" y="0"/>
            <a:chExt cx="3095313" cy="330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30155"/>
            </a:xfrm>
            <a:custGeom>
              <a:avLst/>
              <a:gdLst/>
              <a:ahLst/>
              <a:cxnLst/>
              <a:rect r="r" b="b" t="t" l="l"/>
              <a:pathLst>
                <a:path h="33015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64281"/>
                  </a:lnTo>
                  <a:cubicBezTo>
                    <a:pt x="3095313" y="300662"/>
                    <a:pt x="3065820" y="330155"/>
                    <a:pt x="3029439" y="330155"/>
                  </a:cubicBezTo>
                  <a:lnTo>
                    <a:pt x="65875" y="330155"/>
                  </a:lnTo>
                  <a:cubicBezTo>
                    <a:pt x="29493" y="330155"/>
                    <a:pt x="0" y="300662"/>
                    <a:pt x="0" y="264281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102906"/>
            </a:solidFill>
            <a:ln w="9525" cap="rnd">
              <a:solidFill>
                <a:srgbClr val="7ED95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095313" cy="38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20783" y="2248793"/>
            <a:ext cx="10846433" cy="7009507"/>
          </a:xfrm>
          <a:custGeom>
            <a:avLst/>
            <a:gdLst/>
            <a:ahLst/>
            <a:cxnLst/>
            <a:rect r="r" b="b" t="t" l="l"/>
            <a:pathLst>
              <a:path h="7009507" w="10846433">
                <a:moveTo>
                  <a:pt x="0" y="0"/>
                </a:moveTo>
                <a:lnTo>
                  <a:pt x="10846434" y="0"/>
                </a:lnTo>
                <a:lnTo>
                  <a:pt x="10846434" y="7009507"/>
                </a:lnTo>
                <a:lnTo>
                  <a:pt x="0" y="7009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51375" y="557530"/>
            <a:ext cx="111852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Accuracy Comparison</a:t>
            </a:r>
          </a:p>
        </p:txBody>
      </p:sp>
    </p:spTree>
  </p:cSld>
  <p:clrMapOvr>
    <a:masterClrMapping/>
  </p:clrMapOvr>
  <p:transition spd="slow">
    <p:cover dir="lu"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741" y="700405"/>
            <a:ext cx="11752517" cy="1253558"/>
            <a:chOff x="0" y="0"/>
            <a:chExt cx="3095313" cy="330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313" cy="330155"/>
            </a:xfrm>
            <a:custGeom>
              <a:avLst/>
              <a:gdLst/>
              <a:ahLst/>
              <a:cxnLst/>
              <a:rect r="r" b="b" t="t" l="l"/>
              <a:pathLst>
                <a:path h="330155" w="3095313">
                  <a:moveTo>
                    <a:pt x="65875" y="0"/>
                  </a:moveTo>
                  <a:lnTo>
                    <a:pt x="3029439" y="0"/>
                  </a:lnTo>
                  <a:cubicBezTo>
                    <a:pt x="3065820" y="0"/>
                    <a:pt x="3095313" y="29493"/>
                    <a:pt x="3095313" y="65875"/>
                  </a:cubicBezTo>
                  <a:lnTo>
                    <a:pt x="3095313" y="264281"/>
                  </a:lnTo>
                  <a:cubicBezTo>
                    <a:pt x="3095313" y="300662"/>
                    <a:pt x="3065820" y="330155"/>
                    <a:pt x="3029439" y="330155"/>
                  </a:cubicBezTo>
                  <a:lnTo>
                    <a:pt x="65875" y="330155"/>
                  </a:lnTo>
                  <a:cubicBezTo>
                    <a:pt x="29493" y="330155"/>
                    <a:pt x="0" y="300662"/>
                    <a:pt x="0" y="264281"/>
                  </a:cubicBezTo>
                  <a:lnTo>
                    <a:pt x="0" y="65875"/>
                  </a:lnTo>
                  <a:cubicBezTo>
                    <a:pt x="0" y="29493"/>
                    <a:pt x="29493" y="0"/>
                    <a:pt x="65875" y="0"/>
                  </a:cubicBezTo>
                  <a:close/>
                </a:path>
              </a:pathLst>
            </a:custGeom>
            <a:solidFill>
              <a:srgbClr val="102906"/>
            </a:solidFill>
            <a:ln w="9525" cap="rnd">
              <a:solidFill>
                <a:srgbClr val="7ED95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095313" cy="38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364435" y="2983814"/>
          <a:ext cx="7875815" cy="5583437"/>
        </p:xfrm>
        <a:graphic>
          <a:graphicData uri="http://schemas.openxmlformats.org/drawingml/2006/table">
            <a:tbl>
              <a:tblPr/>
              <a:tblGrid>
                <a:gridCol w="3132254"/>
                <a:gridCol w="2233866"/>
                <a:gridCol w="2509695"/>
              </a:tblGrid>
              <a:tr h="9544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Model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D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No Stroke (0)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D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Yes Stroke (1)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D00"/>
                    </a:solidFill>
                  </a:tcPr>
                </a:tc>
              </a:tr>
              <a:tr h="925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723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5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KNN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972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5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Decision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695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327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5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856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5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SVC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706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551375" y="557530"/>
            <a:ext cx="111852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49CA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Inference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983814"/>
            <a:ext cx="7361311" cy="5610225"/>
            <a:chOff x="0" y="0"/>
            <a:chExt cx="1775506" cy="1353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5506" cy="1353154"/>
            </a:xfrm>
            <a:custGeom>
              <a:avLst/>
              <a:gdLst/>
              <a:ahLst/>
              <a:cxnLst/>
              <a:rect r="r" b="b" t="t" l="l"/>
              <a:pathLst>
                <a:path h="1353154" w="1775506">
                  <a:moveTo>
                    <a:pt x="32603" y="0"/>
                  </a:moveTo>
                  <a:lnTo>
                    <a:pt x="1742903" y="0"/>
                  </a:lnTo>
                  <a:cubicBezTo>
                    <a:pt x="1751550" y="0"/>
                    <a:pt x="1759842" y="3435"/>
                    <a:pt x="1765957" y="9549"/>
                  </a:cubicBezTo>
                  <a:cubicBezTo>
                    <a:pt x="1772071" y="15663"/>
                    <a:pt x="1775506" y="23956"/>
                    <a:pt x="1775506" y="32603"/>
                  </a:cubicBezTo>
                  <a:lnTo>
                    <a:pt x="1775506" y="1320551"/>
                  </a:lnTo>
                  <a:cubicBezTo>
                    <a:pt x="1775506" y="1338557"/>
                    <a:pt x="1760909" y="1353154"/>
                    <a:pt x="1742903" y="1353154"/>
                  </a:cubicBezTo>
                  <a:lnTo>
                    <a:pt x="32603" y="1353154"/>
                  </a:lnTo>
                  <a:cubicBezTo>
                    <a:pt x="14597" y="1353154"/>
                    <a:pt x="0" y="1338557"/>
                    <a:pt x="0" y="132055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</a:path>
              </a:pathLst>
            </a:custGeom>
            <a:solidFill>
              <a:srgbClr val="F1EE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75506" cy="1391254"/>
            </a:xfrm>
            <a:prstGeom prst="rect">
              <a:avLst/>
            </a:prstGeom>
          </p:spPr>
          <p:txBody>
            <a:bodyPr anchor="ctr" rtlCol="false" tIns="71510" lIns="71510" bIns="71510" rIns="7151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22925" y="3758520"/>
            <a:ext cx="7014863" cy="29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Choice:</a:t>
            </a:r>
            <a:r>
              <a:rPr lang="en-US" sz="1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Logistic Regression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2925" y="4216813"/>
            <a:ext cx="6854212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The Medical Justification: High Recall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heart stroke detection, the most important metric is Recall (Sensitivity). You want to catch as many actual stroke cases as possible.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LR caught 40 out of 50 strokes (80% Recall).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KNN only caught 1 out of 50 strokes (2% Recall). Even though LR has many False Positives (predicting "Yes" 299 times), it ensures that 80% of the people actually having a stroke get flagged for medical attention.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91836" y="6589631"/>
            <a:ext cx="7035039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Model Inter</a:t>
            </a:r>
            <a:r>
              <a:rPr lang="en-US" b="true" sz="15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pretability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Unlike "Black Box" models like Random Forest or SVC, Logistic Regression is very transp</a:t>
            </a:r>
            <a:r>
              <a:rPr lang="en-US" sz="1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arent.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provides coefficients for each feature (like age, hypertension, or heart disease).</a:t>
            </a:r>
          </a:p>
        </p:txBody>
      </p:sp>
    </p:spTree>
  </p:cSld>
  <p:clrMapOvr>
    <a:masterClrMapping/>
  </p:clrMapOvr>
  <p:transition spd="slow">
    <p:cover dir="lu"/>
  </p:transition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90661" y="4267090"/>
            <a:ext cx="7706677" cy="1752821"/>
            <a:chOff x="0" y="0"/>
            <a:chExt cx="2029692" cy="461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9692" cy="461675"/>
            </a:xfrm>
            <a:custGeom>
              <a:avLst/>
              <a:gdLst/>
              <a:ahLst/>
              <a:cxnLst/>
              <a:rect r="r" b="b" t="t" l="l"/>
              <a:pathLst>
                <a:path h="461675" w="2029692">
                  <a:moveTo>
                    <a:pt x="2029692" y="100457"/>
                  </a:moveTo>
                  <a:lnTo>
                    <a:pt x="2029692" y="361218"/>
                  </a:lnTo>
                  <a:cubicBezTo>
                    <a:pt x="2029692" y="416699"/>
                    <a:pt x="1984715" y="461675"/>
                    <a:pt x="1929234" y="461675"/>
                  </a:cubicBezTo>
                  <a:lnTo>
                    <a:pt x="100457" y="461675"/>
                  </a:lnTo>
                  <a:cubicBezTo>
                    <a:pt x="44976" y="461675"/>
                    <a:pt x="0" y="416699"/>
                    <a:pt x="0" y="361218"/>
                  </a:cubicBezTo>
                  <a:lnTo>
                    <a:pt x="0" y="100457"/>
                  </a:lnTo>
                  <a:cubicBezTo>
                    <a:pt x="0" y="44976"/>
                    <a:pt x="44976" y="0"/>
                    <a:pt x="100457" y="0"/>
                  </a:cubicBezTo>
                  <a:lnTo>
                    <a:pt x="1929234" y="0"/>
                  </a:lnTo>
                  <a:cubicBezTo>
                    <a:pt x="1984715" y="0"/>
                    <a:pt x="2029692" y="44976"/>
                    <a:pt x="2029692" y="100457"/>
                  </a:cubicBezTo>
                  <a:close/>
                </a:path>
              </a:pathLst>
            </a:custGeom>
            <a:solidFill>
              <a:srgbClr val="102906"/>
            </a:solidFill>
            <a:ln w="19050" cap="rnd">
              <a:solidFill>
                <a:srgbClr val="7EF25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9692" cy="499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90661" y="4076590"/>
            <a:ext cx="7706677" cy="184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18062" y="9477607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1EEE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24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DAG8Y8ietbM</dc:identifier>
  <dcterms:modified xsi:type="dcterms:W3CDTF">2011-08-01T06:04:30Z</dcterms:modified>
  <cp:revision>1</cp:revision>
  <dc:title>Heart Stroke Prediction PPT</dc:title>
</cp:coreProperties>
</file>